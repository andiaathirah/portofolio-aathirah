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Averia Serif Libre"/>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C3D8A49-882E-4C6F-A068-603DD20C760C}">
  <a:tblStyle styleId="{BC3D8A49-882E-4C6F-A068-603DD20C760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AveriaSerifLibre-regular.fntdata"/><Relationship Id="rId25" Type="http://schemas.openxmlformats.org/officeDocument/2006/relationships/slide" Target="slides/slide19.xml"/><Relationship Id="rId28" Type="http://schemas.openxmlformats.org/officeDocument/2006/relationships/font" Target="fonts/AveriaSerifLibre-italic.fntdata"/><Relationship Id="rId27" Type="http://schemas.openxmlformats.org/officeDocument/2006/relationships/font" Target="fonts/AveriaSerifLibre-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AveriaSerifLibre-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2261507822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226150782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261507822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261507822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2615078227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2615078227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2615078227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2615078227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2615078227_0_2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g22615078227_0_2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2615078227_0_3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g22615078227_0_3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2615078227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2615078227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2615078227_0_4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22615078227_0_4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2615078227_0_4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g22615078227_0_4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2615078227_11_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g22615078227_11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2615078227_0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2615078227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2615078227_0_6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22615078227_0_6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2615078227_11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22615078227_11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2615078227_11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g22615078227_11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2615078227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2615078227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2615078227_0_7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g22615078227_0_7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2615078227_11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22615078227_11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2615078227_0_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2615078227_0_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2615078227_0_8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2615078227_0_8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TITLE_1">
    <p:spTree>
      <p:nvGrpSpPr>
        <p:cNvPr id="50" name="Shape 5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TITLE_2">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2.jpg"/><Relationship Id="rId5" Type="http://schemas.openxmlformats.org/officeDocument/2006/relationships/image" Target="../media/image9.jp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0.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9.png"/><Relationship Id="rId5" Type="http://schemas.openxmlformats.org/officeDocument/2006/relationships/image" Target="../media/image15.png"/><Relationship Id="rId6"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3.png"/><Relationship Id="rId5" Type="http://schemas.openxmlformats.org/officeDocument/2006/relationships/image" Target="../media/image21.png"/><Relationship Id="rId6"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4.png"/><Relationship Id="rId5" Type="http://schemas.openxmlformats.org/officeDocument/2006/relationships/image" Target="../media/image26.png"/><Relationship Id="rId6"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 name="Shape 55"/>
        <p:cNvGrpSpPr/>
        <p:nvPr/>
      </p:nvGrpSpPr>
      <p:grpSpPr>
        <a:xfrm>
          <a:off x="0" y="0"/>
          <a:ext cx="0" cy="0"/>
          <a:chOff x="0" y="0"/>
          <a:chExt cx="0" cy="0"/>
        </a:xfrm>
      </p:grpSpPr>
      <p:sp>
        <p:nvSpPr>
          <p:cNvPr id="56" name="Google Shape;56;p15"/>
          <p:cNvSpPr/>
          <p:nvPr/>
        </p:nvSpPr>
        <p:spPr>
          <a:xfrm>
            <a:off x="4775175" y="0"/>
            <a:ext cx="4368600" cy="5143500"/>
          </a:xfrm>
          <a:prstGeom prst="rect">
            <a:avLst/>
          </a:prstGeom>
          <a:solidFill>
            <a:srgbClr val="D0E0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5"/>
          <p:cNvSpPr txBox="1"/>
          <p:nvPr/>
        </p:nvSpPr>
        <p:spPr>
          <a:xfrm>
            <a:off x="533400" y="1051950"/>
            <a:ext cx="3682200" cy="51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004987"/>
                </a:solidFill>
                <a:latin typeface="Averia Serif Libre"/>
                <a:ea typeface="Averia Serif Libre"/>
                <a:cs typeface="Averia Serif Libre"/>
                <a:sym typeface="Averia Serif Libre"/>
              </a:rPr>
              <a:t>G E N E R A T I O N   G I R L </a:t>
            </a:r>
            <a:endParaRPr b="1" sz="1200">
              <a:solidFill>
                <a:srgbClr val="004987"/>
              </a:solidFill>
              <a:latin typeface="Averia Serif Libre"/>
              <a:ea typeface="Averia Serif Libre"/>
              <a:cs typeface="Averia Serif Libre"/>
              <a:sym typeface="Averia Serif Libre"/>
            </a:endParaRPr>
          </a:p>
          <a:p>
            <a:pPr indent="0" lvl="0" marL="0" rtl="0" algn="l">
              <a:spcBef>
                <a:spcPts val="0"/>
              </a:spcBef>
              <a:spcAft>
                <a:spcPts val="0"/>
              </a:spcAft>
              <a:buNone/>
            </a:pPr>
            <a:r>
              <a:rPr b="1" lang="en" sz="1200">
                <a:solidFill>
                  <a:srgbClr val="004987"/>
                </a:solidFill>
                <a:latin typeface="Averia Serif Libre"/>
                <a:ea typeface="Averia Serif Libre"/>
                <a:cs typeface="Averia Serif Libre"/>
                <a:sym typeface="Averia Serif Libre"/>
              </a:rPr>
              <a:t>SUMMER   C L U B   E X P L O R E R   2 0 2 3</a:t>
            </a:r>
            <a:endParaRPr b="1" sz="1200">
              <a:solidFill>
                <a:srgbClr val="004987"/>
              </a:solidFill>
              <a:latin typeface="Averia Serif Libre"/>
              <a:ea typeface="Averia Serif Libre"/>
              <a:cs typeface="Averia Serif Libre"/>
              <a:sym typeface="Averia Serif Libre"/>
            </a:endParaRPr>
          </a:p>
        </p:txBody>
      </p:sp>
      <p:sp>
        <p:nvSpPr>
          <p:cNvPr id="58" name="Google Shape;58;p15"/>
          <p:cNvSpPr txBox="1"/>
          <p:nvPr/>
        </p:nvSpPr>
        <p:spPr>
          <a:xfrm>
            <a:off x="533400" y="2196547"/>
            <a:ext cx="2660400" cy="79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400">
                <a:solidFill>
                  <a:srgbClr val="004987"/>
                </a:solidFill>
                <a:latin typeface="Averia Serif Libre"/>
                <a:ea typeface="Averia Serif Libre"/>
                <a:cs typeface="Averia Serif Libre"/>
                <a:sym typeface="Averia Serif Libre"/>
              </a:rPr>
              <a:t>FINAL PROJECT</a:t>
            </a:r>
            <a:endParaRPr b="1" sz="3400">
              <a:solidFill>
                <a:srgbClr val="004987"/>
              </a:solidFill>
              <a:latin typeface="Averia Serif Libre"/>
              <a:ea typeface="Averia Serif Libre"/>
              <a:cs typeface="Averia Serif Libre"/>
              <a:sym typeface="Averia Serif Libre"/>
            </a:endParaRPr>
          </a:p>
          <a:p>
            <a:pPr indent="0" lvl="0" marL="0" rtl="0" algn="l">
              <a:spcBef>
                <a:spcPts val="0"/>
              </a:spcBef>
              <a:spcAft>
                <a:spcPts val="0"/>
              </a:spcAft>
              <a:buNone/>
            </a:pPr>
            <a:r>
              <a:t/>
            </a:r>
            <a:endParaRPr b="1" sz="3400">
              <a:solidFill>
                <a:srgbClr val="004987"/>
              </a:solidFill>
              <a:latin typeface="Averia Serif Libre"/>
              <a:ea typeface="Averia Serif Libre"/>
              <a:cs typeface="Averia Serif Libre"/>
              <a:sym typeface="Averia Serif Libre"/>
            </a:endParaRPr>
          </a:p>
        </p:txBody>
      </p:sp>
      <p:pic>
        <p:nvPicPr>
          <p:cNvPr id="59" name="Google Shape;59;p15"/>
          <p:cNvPicPr preferRelativeResize="0"/>
          <p:nvPr/>
        </p:nvPicPr>
        <p:blipFill>
          <a:blip r:embed="rId3">
            <a:alphaModFix/>
          </a:blip>
          <a:stretch>
            <a:fillRect/>
          </a:stretch>
        </p:blipFill>
        <p:spPr>
          <a:xfrm>
            <a:off x="8229600" y="457200"/>
            <a:ext cx="457200" cy="457200"/>
          </a:xfrm>
          <a:prstGeom prst="rect">
            <a:avLst/>
          </a:prstGeom>
          <a:noFill/>
          <a:ln>
            <a:noFill/>
          </a:ln>
        </p:spPr>
      </p:pic>
      <p:sp>
        <p:nvSpPr>
          <p:cNvPr id="60" name="Google Shape;60;p15"/>
          <p:cNvSpPr txBox="1"/>
          <p:nvPr/>
        </p:nvSpPr>
        <p:spPr>
          <a:xfrm>
            <a:off x="533400" y="3080100"/>
            <a:ext cx="2313600" cy="64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04987"/>
                </a:solidFill>
                <a:latin typeface="Averia Serif Libre"/>
                <a:ea typeface="Averia Serif Libre"/>
                <a:cs typeface="Averia Serif Libre"/>
                <a:sym typeface="Averia Serif Libre"/>
              </a:rPr>
              <a:t>Data Science Happines Index</a:t>
            </a:r>
            <a:endParaRPr b="1">
              <a:solidFill>
                <a:srgbClr val="004987"/>
              </a:solidFill>
              <a:latin typeface="Averia Serif Libre"/>
              <a:ea typeface="Averia Serif Libre"/>
              <a:cs typeface="Averia Serif Libre"/>
              <a:sym typeface="Averia Serif Libre"/>
            </a:endParaRPr>
          </a:p>
        </p:txBody>
      </p:sp>
      <p:pic>
        <p:nvPicPr>
          <p:cNvPr id="61" name="Google Shape;61;p15"/>
          <p:cNvPicPr preferRelativeResize="0"/>
          <p:nvPr/>
        </p:nvPicPr>
        <p:blipFill rotWithShape="1">
          <a:blip r:embed="rId4">
            <a:alphaModFix/>
          </a:blip>
          <a:srcRect b="-10" l="0" r="0" t="10"/>
          <a:stretch/>
        </p:blipFill>
        <p:spPr>
          <a:xfrm>
            <a:off x="11" y="3814050"/>
            <a:ext cx="2696525" cy="191500"/>
          </a:xfrm>
          <a:prstGeom prst="rect">
            <a:avLst/>
          </a:prstGeom>
          <a:noFill/>
          <a:ln>
            <a:noFill/>
          </a:ln>
        </p:spPr>
      </p:pic>
      <p:sp>
        <p:nvSpPr>
          <p:cNvPr id="62" name="Google Shape;62;p15"/>
          <p:cNvSpPr/>
          <p:nvPr/>
        </p:nvSpPr>
        <p:spPr>
          <a:xfrm>
            <a:off x="3265295" y="-493875"/>
            <a:ext cx="1306800" cy="1306800"/>
          </a:xfrm>
          <a:prstGeom prst="ellipse">
            <a:avLst/>
          </a:prstGeom>
          <a:noFill/>
          <a:ln cap="flat" cmpd="sng" w="9525">
            <a:solidFill>
              <a:srgbClr val="A4C2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5"/>
          <p:cNvSpPr/>
          <p:nvPr/>
        </p:nvSpPr>
        <p:spPr>
          <a:xfrm>
            <a:off x="3213900" y="354847"/>
            <a:ext cx="478800" cy="478800"/>
          </a:xfrm>
          <a:prstGeom prst="ellipse">
            <a:avLst/>
          </a:prstGeom>
          <a:solidFill>
            <a:srgbClr val="CFE2F3">
              <a:alpha val="49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 name="Google Shape;64;p15"/>
          <p:cNvPicPr preferRelativeResize="0"/>
          <p:nvPr/>
        </p:nvPicPr>
        <p:blipFill rotWithShape="1">
          <a:blip r:embed="rId5">
            <a:alphaModFix/>
          </a:blip>
          <a:srcRect b="7655" l="0" r="0" t="7663"/>
          <a:stretch/>
        </p:blipFill>
        <p:spPr>
          <a:xfrm>
            <a:off x="4327900" y="1107825"/>
            <a:ext cx="4816096" cy="30586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 name="Shape 68"/>
        <p:cNvGrpSpPr/>
        <p:nvPr/>
      </p:nvGrpSpPr>
      <p:grpSpPr>
        <a:xfrm>
          <a:off x="0" y="0"/>
          <a:ext cx="0" cy="0"/>
          <a:chOff x="0" y="0"/>
          <a:chExt cx="0" cy="0"/>
        </a:xfrm>
      </p:grpSpPr>
      <p:sp>
        <p:nvSpPr>
          <p:cNvPr id="69" name="Google Shape;69;p16"/>
          <p:cNvSpPr/>
          <p:nvPr/>
        </p:nvSpPr>
        <p:spPr>
          <a:xfrm>
            <a:off x="0" y="0"/>
            <a:ext cx="3157200" cy="5143500"/>
          </a:xfrm>
          <a:prstGeom prst="rect">
            <a:avLst/>
          </a:prstGeom>
          <a:solidFill>
            <a:srgbClr val="FF94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6"/>
          <p:cNvSpPr/>
          <p:nvPr/>
        </p:nvSpPr>
        <p:spPr>
          <a:xfrm>
            <a:off x="3577700" y="865638"/>
            <a:ext cx="2933400" cy="565800"/>
          </a:xfrm>
          <a:prstGeom prst="roundRect">
            <a:avLst>
              <a:gd fmla="val 16667" name="adj"/>
            </a:avLst>
          </a:prstGeom>
          <a:solidFill>
            <a:srgbClr val="CFE2F3">
              <a:alpha val="49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 name="Google Shape;71;p16"/>
          <p:cNvPicPr preferRelativeResize="0"/>
          <p:nvPr/>
        </p:nvPicPr>
        <p:blipFill rotWithShape="1">
          <a:blip r:embed="rId3">
            <a:alphaModFix/>
          </a:blip>
          <a:srcRect b="179" l="0" r="0" t="179"/>
          <a:stretch/>
        </p:blipFill>
        <p:spPr>
          <a:xfrm>
            <a:off x="7548375" y="182875"/>
            <a:ext cx="1138428" cy="274320"/>
          </a:xfrm>
          <a:prstGeom prst="rect">
            <a:avLst/>
          </a:prstGeom>
          <a:noFill/>
          <a:ln>
            <a:noFill/>
          </a:ln>
        </p:spPr>
      </p:pic>
      <p:sp>
        <p:nvSpPr>
          <p:cNvPr id="72" name="Google Shape;72;p16"/>
          <p:cNvSpPr txBox="1"/>
          <p:nvPr/>
        </p:nvSpPr>
        <p:spPr>
          <a:xfrm>
            <a:off x="457200" y="3463650"/>
            <a:ext cx="2057400" cy="42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400">
                <a:solidFill>
                  <a:srgbClr val="004987"/>
                </a:solidFill>
                <a:latin typeface="Averia Serif Libre"/>
                <a:ea typeface="Averia Serif Libre"/>
                <a:cs typeface="Averia Serif Libre"/>
                <a:sym typeface="Averia Serif Libre"/>
              </a:rPr>
              <a:t>Outlines</a:t>
            </a:r>
            <a:endParaRPr b="1" sz="3400">
              <a:solidFill>
                <a:srgbClr val="004987"/>
              </a:solidFill>
              <a:latin typeface="Averia Serif Libre"/>
              <a:ea typeface="Averia Serif Libre"/>
              <a:cs typeface="Averia Serif Libre"/>
              <a:sym typeface="Averia Serif Libre"/>
            </a:endParaRPr>
          </a:p>
        </p:txBody>
      </p:sp>
      <p:sp>
        <p:nvSpPr>
          <p:cNvPr id="73" name="Google Shape;73;p16"/>
          <p:cNvSpPr txBox="1"/>
          <p:nvPr/>
        </p:nvSpPr>
        <p:spPr>
          <a:xfrm>
            <a:off x="3661300" y="956838"/>
            <a:ext cx="3086100" cy="341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rgbClr val="004987"/>
                </a:solidFill>
                <a:latin typeface="Averia Serif Libre"/>
                <a:ea typeface="Averia Serif Libre"/>
                <a:cs typeface="Averia Serif Libre"/>
                <a:sym typeface="Averia Serif Libre"/>
              </a:rPr>
              <a:t>Introduction</a:t>
            </a:r>
            <a:endParaRPr b="1" sz="1800">
              <a:solidFill>
                <a:srgbClr val="004987"/>
              </a:solidFill>
              <a:latin typeface="Averia Serif Libre"/>
              <a:ea typeface="Averia Serif Libre"/>
              <a:cs typeface="Averia Serif Libre"/>
              <a:sym typeface="Averia Serif Libre"/>
            </a:endParaRPr>
          </a:p>
        </p:txBody>
      </p:sp>
      <p:sp>
        <p:nvSpPr>
          <p:cNvPr id="74" name="Google Shape;74;p16"/>
          <p:cNvSpPr txBox="1"/>
          <p:nvPr/>
        </p:nvSpPr>
        <p:spPr>
          <a:xfrm>
            <a:off x="3661300" y="1646838"/>
            <a:ext cx="2571900" cy="341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4D4D4D"/>
                </a:solidFill>
                <a:latin typeface="Averia Serif Libre"/>
                <a:ea typeface="Averia Serif Libre"/>
                <a:cs typeface="Averia Serif Libre"/>
                <a:sym typeface="Averia Serif Libre"/>
              </a:rPr>
              <a:t>Objectives</a:t>
            </a:r>
            <a:endParaRPr sz="1800">
              <a:solidFill>
                <a:srgbClr val="4D4D4D"/>
              </a:solidFill>
              <a:latin typeface="Averia Serif Libre"/>
              <a:ea typeface="Averia Serif Libre"/>
              <a:cs typeface="Averia Serif Libre"/>
              <a:sym typeface="Averia Serif Libre"/>
            </a:endParaRPr>
          </a:p>
        </p:txBody>
      </p:sp>
      <p:sp>
        <p:nvSpPr>
          <p:cNvPr id="75" name="Google Shape;75;p16"/>
          <p:cNvSpPr txBox="1"/>
          <p:nvPr/>
        </p:nvSpPr>
        <p:spPr>
          <a:xfrm>
            <a:off x="3661300" y="2306088"/>
            <a:ext cx="2330400" cy="341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4D4D4D"/>
                </a:solidFill>
                <a:latin typeface="Averia Serif Libre"/>
                <a:ea typeface="Averia Serif Libre"/>
                <a:cs typeface="Averia Serif Libre"/>
                <a:sym typeface="Averia Serif Libre"/>
              </a:rPr>
              <a:t>EDA</a:t>
            </a:r>
            <a:endParaRPr sz="1800">
              <a:solidFill>
                <a:srgbClr val="4D4D4D"/>
              </a:solidFill>
              <a:latin typeface="Averia Serif Libre"/>
              <a:ea typeface="Averia Serif Libre"/>
              <a:cs typeface="Averia Serif Libre"/>
              <a:sym typeface="Averia Serif Libre"/>
            </a:endParaRPr>
          </a:p>
        </p:txBody>
      </p:sp>
      <p:sp>
        <p:nvSpPr>
          <p:cNvPr id="76" name="Google Shape;76;p16"/>
          <p:cNvSpPr txBox="1"/>
          <p:nvPr/>
        </p:nvSpPr>
        <p:spPr>
          <a:xfrm>
            <a:off x="3661300" y="2965338"/>
            <a:ext cx="2330400" cy="341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4D4D4D"/>
                </a:solidFill>
                <a:latin typeface="Averia Serif Libre"/>
                <a:ea typeface="Averia Serif Libre"/>
                <a:cs typeface="Averia Serif Libre"/>
                <a:sym typeface="Averia Serif Libre"/>
              </a:rPr>
              <a:t>Model Choices </a:t>
            </a:r>
            <a:endParaRPr sz="1800">
              <a:solidFill>
                <a:srgbClr val="4D4D4D"/>
              </a:solidFill>
              <a:latin typeface="Averia Serif Libre"/>
              <a:ea typeface="Averia Serif Libre"/>
              <a:cs typeface="Averia Serif Libre"/>
              <a:sym typeface="Averia Serif Libre"/>
            </a:endParaRPr>
          </a:p>
        </p:txBody>
      </p:sp>
      <p:pic>
        <p:nvPicPr>
          <p:cNvPr id="77" name="Google Shape;77;p16"/>
          <p:cNvPicPr preferRelativeResize="0"/>
          <p:nvPr/>
        </p:nvPicPr>
        <p:blipFill rotWithShape="1">
          <a:blip r:embed="rId4">
            <a:alphaModFix/>
          </a:blip>
          <a:srcRect b="0" l="21723" r="21718" t="0"/>
          <a:stretch/>
        </p:blipFill>
        <p:spPr>
          <a:xfrm>
            <a:off x="457200" y="1222500"/>
            <a:ext cx="2006100" cy="2008500"/>
          </a:xfrm>
          <a:prstGeom prst="ellipse">
            <a:avLst/>
          </a:prstGeom>
          <a:noFill/>
          <a:ln>
            <a:noFill/>
          </a:ln>
        </p:spPr>
      </p:pic>
      <p:sp>
        <p:nvSpPr>
          <p:cNvPr id="78" name="Google Shape;78;p16"/>
          <p:cNvSpPr txBox="1"/>
          <p:nvPr/>
        </p:nvSpPr>
        <p:spPr>
          <a:xfrm>
            <a:off x="6629400" y="4686300"/>
            <a:ext cx="2057400" cy="341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1000">
                <a:solidFill>
                  <a:srgbClr val="004987"/>
                </a:solidFill>
                <a:latin typeface="Source Sans Pro"/>
                <a:ea typeface="Source Sans Pro"/>
                <a:cs typeface="Source Sans Pro"/>
                <a:sym typeface="Source Sans Pro"/>
              </a:rPr>
              <a:t>Data Science</a:t>
            </a:r>
            <a:endParaRPr b="1" sz="1000">
              <a:solidFill>
                <a:srgbClr val="004987"/>
              </a:solidFill>
              <a:latin typeface="Source Sans Pro"/>
              <a:ea typeface="Source Sans Pro"/>
              <a:cs typeface="Source Sans Pro"/>
              <a:sym typeface="Source Sans Pro"/>
            </a:endParaRPr>
          </a:p>
        </p:txBody>
      </p:sp>
      <p:sp>
        <p:nvSpPr>
          <p:cNvPr id="79" name="Google Shape;79;p16"/>
          <p:cNvSpPr/>
          <p:nvPr/>
        </p:nvSpPr>
        <p:spPr>
          <a:xfrm>
            <a:off x="8223125" y="1425900"/>
            <a:ext cx="1601700" cy="1601700"/>
          </a:xfrm>
          <a:prstGeom prst="ellipse">
            <a:avLst/>
          </a:prstGeom>
          <a:noFill/>
          <a:ln cap="flat" cmpd="sng" w="9525">
            <a:solidFill>
              <a:srgbClr val="A4C2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6"/>
          <p:cNvSpPr/>
          <p:nvPr/>
        </p:nvSpPr>
        <p:spPr>
          <a:xfrm>
            <a:off x="7980678" y="2098678"/>
            <a:ext cx="586800" cy="586800"/>
          </a:xfrm>
          <a:prstGeom prst="ellipse">
            <a:avLst/>
          </a:prstGeom>
          <a:solidFill>
            <a:srgbClr val="CFE2F3">
              <a:alpha val="49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6"/>
          <p:cNvSpPr txBox="1"/>
          <p:nvPr/>
        </p:nvSpPr>
        <p:spPr>
          <a:xfrm>
            <a:off x="3661300" y="3577413"/>
            <a:ext cx="3962400" cy="341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4D4D4D"/>
                </a:solidFill>
                <a:latin typeface="Averia Serif Libre"/>
                <a:ea typeface="Averia Serif Libre"/>
                <a:cs typeface="Averia Serif Libre"/>
                <a:sym typeface="Averia Serif Libre"/>
              </a:rPr>
              <a:t>Best Model and Recommendation</a:t>
            </a:r>
            <a:endParaRPr sz="1800">
              <a:solidFill>
                <a:srgbClr val="4D4D4D"/>
              </a:solidFill>
              <a:latin typeface="Averia Serif Libre"/>
              <a:ea typeface="Averia Serif Libre"/>
              <a:cs typeface="Averia Serif Libre"/>
              <a:sym typeface="Averia Serif Libr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4B85">
            <a:alpha val="76540"/>
          </a:srgbClr>
        </a:solidFill>
      </p:bgPr>
    </p:bg>
    <p:spTree>
      <p:nvGrpSpPr>
        <p:cNvPr id="85" name="Shape 85"/>
        <p:cNvGrpSpPr/>
        <p:nvPr/>
      </p:nvGrpSpPr>
      <p:grpSpPr>
        <a:xfrm>
          <a:off x="0" y="0"/>
          <a:ext cx="0" cy="0"/>
          <a:chOff x="0" y="0"/>
          <a:chExt cx="0" cy="0"/>
        </a:xfrm>
      </p:grpSpPr>
      <p:sp>
        <p:nvSpPr>
          <p:cNvPr id="86" name="Google Shape;86;p17"/>
          <p:cNvSpPr/>
          <p:nvPr/>
        </p:nvSpPr>
        <p:spPr>
          <a:xfrm>
            <a:off x="1959600" y="-6537"/>
            <a:ext cx="5224800" cy="5224800"/>
          </a:xfrm>
          <a:prstGeom prst="ellipse">
            <a:avLst/>
          </a:prstGeom>
          <a:solidFill>
            <a:srgbClr val="D0E0E3"/>
          </a:solidFill>
          <a:ln cap="flat" cmpd="sng" w="9525">
            <a:solidFill>
              <a:srgbClr val="E9F0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7"/>
          <p:cNvSpPr/>
          <p:nvPr/>
        </p:nvSpPr>
        <p:spPr>
          <a:xfrm>
            <a:off x="5311150" y="-74762"/>
            <a:ext cx="670800" cy="670800"/>
          </a:xfrm>
          <a:prstGeom prst="ellipse">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8" name="Google Shape;88;p17"/>
          <p:cNvPicPr preferRelativeResize="0"/>
          <p:nvPr/>
        </p:nvPicPr>
        <p:blipFill rotWithShape="1">
          <a:blip r:embed="rId3">
            <a:alphaModFix/>
          </a:blip>
          <a:srcRect b="0" l="9313" r="11958" t="0"/>
          <a:stretch/>
        </p:blipFill>
        <p:spPr>
          <a:xfrm flipH="1">
            <a:off x="3348448" y="3496477"/>
            <a:ext cx="2428601" cy="219075"/>
          </a:xfrm>
          <a:prstGeom prst="rect">
            <a:avLst/>
          </a:prstGeom>
          <a:noFill/>
          <a:ln>
            <a:noFill/>
          </a:ln>
        </p:spPr>
      </p:pic>
      <p:sp>
        <p:nvSpPr>
          <p:cNvPr id="89" name="Google Shape;89;p17"/>
          <p:cNvSpPr txBox="1"/>
          <p:nvPr/>
        </p:nvSpPr>
        <p:spPr>
          <a:xfrm>
            <a:off x="2319400" y="1618025"/>
            <a:ext cx="4542300" cy="1500600"/>
          </a:xfrm>
          <a:prstGeom prst="rect">
            <a:avLst/>
          </a:prstGeom>
          <a:solidFill>
            <a:srgbClr val="D0E0E3"/>
          </a:solidFill>
          <a:ln>
            <a:noFill/>
          </a:ln>
        </p:spPr>
        <p:txBody>
          <a:bodyPr anchorCtr="0" anchor="ctr" bIns="45700" lIns="91425" spcFirstLastPara="1" rIns="91425" wrap="square" tIns="45700">
            <a:noAutofit/>
          </a:bodyPr>
          <a:lstStyle/>
          <a:p>
            <a:pPr indent="0" lvl="0" marL="0" rtl="0" algn="ctr">
              <a:lnSpc>
                <a:spcPct val="90000"/>
              </a:lnSpc>
              <a:spcBef>
                <a:spcPts val="1000"/>
              </a:spcBef>
              <a:spcAft>
                <a:spcPts val="0"/>
              </a:spcAft>
              <a:buNone/>
            </a:pPr>
            <a:r>
              <a:rPr lang="en" sz="4100">
                <a:solidFill>
                  <a:srgbClr val="FFFFFF"/>
                </a:solidFill>
                <a:latin typeface="Averia Serif Libre"/>
                <a:ea typeface="Averia Serif Libre"/>
                <a:cs typeface="Averia Serif Libre"/>
                <a:sym typeface="Averia Serif Libre"/>
              </a:rPr>
              <a:t>Introduction</a:t>
            </a:r>
            <a:endParaRPr sz="4100">
              <a:solidFill>
                <a:srgbClr val="FFFFFF"/>
              </a:solidFill>
              <a:latin typeface="Averia Serif Libre"/>
              <a:ea typeface="Averia Serif Libre"/>
              <a:cs typeface="Averia Serif Libre"/>
              <a:sym typeface="Averia Serif Libre"/>
            </a:endParaRPr>
          </a:p>
        </p:txBody>
      </p:sp>
      <p:pic>
        <p:nvPicPr>
          <p:cNvPr id="90" name="Google Shape;90;p17"/>
          <p:cNvPicPr preferRelativeResize="0"/>
          <p:nvPr/>
        </p:nvPicPr>
        <p:blipFill>
          <a:blip r:embed="rId4">
            <a:alphaModFix/>
          </a:blip>
          <a:stretch>
            <a:fillRect/>
          </a:stretch>
        </p:blipFill>
        <p:spPr>
          <a:xfrm>
            <a:off x="7548375" y="182875"/>
            <a:ext cx="1138428" cy="27432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sp>
        <p:nvSpPr>
          <p:cNvPr id="95" name="Google Shape;95;p18"/>
          <p:cNvSpPr txBox="1"/>
          <p:nvPr/>
        </p:nvSpPr>
        <p:spPr>
          <a:xfrm>
            <a:off x="205800" y="580400"/>
            <a:ext cx="3486900" cy="1018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400">
                <a:solidFill>
                  <a:srgbClr val="004987"/>
                </a:solidFill>
                <a:latin typeface="Averia Serif Libre"/>
                <a:ea typeface="Averia Serif Libre"/>
                <a:cs typeface="Averia Serif Libre"/>
                <a:sym typeface="Averia Serif Libre"/>
              </a:rPr>
              <a:t>We Are</a:t>
            </a:r>
            <a:endParaRPr b="1" sz="3400">
              <a:solidFill>
                <a:srgbClr val="004987"/>
              </a:solidFill>
              <a:latin typeface="Averia Serif Libre"/>
              <a:ea typeface="Averia Serif Libre"/>
              <a:cs typeface="Averia Serif Libre"/>
              <a:sym typeface="Averia Serif Libre"/>
            </a:endParaRPr>
          </a:p>
        </p:txBody>
      </p:sp>
      <p:pic>
        <p:nvPicPr>
          <p:cNvPr id="96" name="Google Shape;96;p18"/>
          <p:cNvPicPr preferRelativeResize="0"/>
          <p:nvPr/>
        </p:nvPicPr>
        <p:blipFill>
          <a:blip r:embed="rId3">
            <a:alphaModFix/>
          </a:blip>
          <a:stretch>
            <a:fillRect/>
          </a:stretch>
        </p:blipFill>
        <p:spPr>
          <a:xfrm>
            <a:off x="8229600" y="457200"/>
            <a:ext cx="457200" cy="457200"/>
          </a:xfrm>
          <a:prstGeom prst="rect">
            <a:avLst/>
          </a:prstGeom>
          <a:noFill/>
          <a:ln>
            <a:noFill/>
          </a:ln>
        </p:spPr>
      </p:pic>
      <p:sp>
        <p:nvSpPr>
          <p:cNvPr id="97" name="Google Shape;97;p18"/>
          <p:cNvSpPr/>
          <p:nvPr/>
        </p:nvSpPr>
        <p:spPr>
          <a:xfrm>
            <a:off x="3265295" y="-493875"/>
            <a:ext cx="1306800" cy="1306800"/>
          </a:xfrm>
          <a:prstGeom prst="ellipse">
            <a:avLst/>
          </a:prstGeom>
          <a:noFill/>
          <a:ln cap="flat" cmpd="sng" w="9525">
            <a:solidFill>
              <a:srgbClr val="A4C2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8"/>
          <p:cNvSpPr/>
          <p:nvPr/>
        </p:nvSpPr>
        <p:spPr>
          <a:xfrm>
            <a:off x="3213900" y="354847"/>
            <a:ext cx="478800" cy="478800"/>
          </a:xfrm>
          <a:prstGeom prst="ellipse">
            <a:avLst/>
          </a:prstGeom>
          <a:solidFill>
            <a:srgbClr val="CFE2F3">
              <a:alpha val="49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 name="Google Shape;99;p18"/>
          <p:cNvGrpSpPr/>
          <p:nvPr/>
        </p:nvGrpSpPr>
        <p:grpSpPr>
          <a:xfrm>
            <a:off x="6267300" y="1970250"/>
            <a:ext cx="1962300" cy="2318025"/>
            <a:chOff x="4886075" y="1970250"/>
            <a:chExt cx="1962300" cy="2318025"/>
          </a:xfrm>
        </p:grpSpPr>
        <p:sp>
          <p:nvSpPr>
            <p:cNvPr id="100" name="Google Shape;100;p18"/>
            <p:cNvSpPr/>
            <p:nvPr/>
          </p:nvSpPr>
          <p:spPr>
            <a:xfrm>
              <a:off x="5105822" y="1970250"/>
              <a:ext cx="1522800" cy="1522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8"/>
            <p:cNvSpPr txBox="1"/>
            <p:nvPr/>
          </p:nvSpPr>
          <p:spPr>
            <a:xfrm>
              <a:off x="4886075" y="3577875"/>
              <a:ext cx="1962300" cy="71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800">
                  <a:solidFill>
                    <a:srgbClr val="004987"/>
                  </a:solidFill>
                  <a:latin typeface="Averia Serif Libre"/>
                  <a:ea typeface="Averia Serif Libre"/>
                  <a:cs typeface="Averia Serif Libre"/>
                  <a:sym typeface="Averia Serif Libre"/>
                </a:rPr>
                <a:t>Laila</a:t>
              </a:r>
              <a:endParaRPr sz="1800">
                <a:solidFill>
                  <a:srgbClr val="004987"/>
                </a:solidFill>
                <a:latin typeface="Averia Serif Libre"/>
                <a:ea typeface="Averia Serif Libre"/>
                <a:cs typeface="Averia Serif Libre"/>
                <a:sym typeface="Averia Serif Libre"/>
              </a:endParaRPr>
            </a:p>
          </p:txBody>
        </p:sp>
      </p:grpSp>
      <p:pic>
        <p:nvPicPr>
          <p:cNvPr id="102" name="Google Shape;102;p18"/>
          <p:cNvPicPr preferRelativeResize="0"/>
          <p:nvPr/>
        </p:nvPicPr>
        <p:blipFill rotWithShape="1">
          <a:blip r:embed="rId4">
            <a:alphaModFix/>
          </a:blip>
          <a:srcRect b="29821" l="14034" r="10755" t="13774"/>
          <a:stretch/>
        </p:blipFill>
        <p:spPr>
          <a:xfrm>
            <a:off x="6421600" y="1869625"/>
            <a:ext cx="1653677" cy="1653673"/>
          </a:xfrm>
          <a:prstGeom prst="rect">
            <a:avLst/>
          </a:prstGeom>
          <a:noFill/>
          <a:ln>
            <a:noFill/>
          </a:ln>
        </p:spPr>
      </p:pic>
      <p:grpSp>
        <p:nvGrpSpPr>
          <p:cNvPr id="103" name="Google Shape;103;p18"/>
          <p:cNvGrpSpPr/>
          <p:nvPr/>
        </p:nvGrpSpPr>
        <p:grpSpPr>
          <a:xfrm>
            <a:off x="3692704" y="1970250"/>
            <a:ext cx="2013600" cy="2318025"/>
            <a:chOff x="2726729" y="1970250"/>
            <a:chExt cx="2013600" cy="2318025"/>
          </a:xfrm>
        </p:grpSpPr>
        <p:sp>
          <p:nvSpPr>
            <p:cNvPr id="104" name="Google Shape;104;p18"/>
            <p:cNvSpPr/>
            <p:nvPr/>
          </p:nvSpPr>
          <p:spPr>
            <a:xfrm>
              <a:off x="2972136" y="1970250"/>
              <a:ext cx="1522800" cy="1522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8"/>
            <p:cNvSpPr txBox="1"/>
            <p:nvPr/>
          </p:nvSpPr>
          <p:spPr>
            <a:xfrm>
              <a:off x="2726729" y="3577875"/>
              <a:ext cx="2013600" cy="71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800">
                  <a:solidFill>
                    <a:srgbClr val="004987"/>
                  </a:solidFill>
                  <a:latin typeface="Averia Serif Libre"/>
                  <a:ea typeface="Averia Serif Libre"/>
                  <a:cs typeface="Averia Serif Libre"/>
                  <a:sym typeface="Averia Serif Libre"/>
                </a:rPr>
                <a:t>Khansa</a:t>
              </a:r>
              <a:endParaRPr sz="1800">
                <a:solidFill>
                  <a:srgbClr val="004987"/>
                </a:solidFill>
                <a:latin typeface="Averia Serif Libre"/>
                <a:ea typeface="Averia Serif Libre"/>
                <a:cs typeface="Averia Serif Libre"/>
                <a:sym typeface="Averia Serif Libre"/>
              </a:endParaRPr>
            </a:p>
          </p:txBody>
        </p:sp>
      </p:grpSp>
      <p:grpSp>
        <p:nvGrpSpPr>
          <p:cNvPr id="106" name="Google Shape;106;p18"/>
          <p:cNvGrpSpPr/>
          <p:nvPr/>
        </p:nvGrpSpPr>
        <p:grpSpPr>
          <a:xfrm>
            <a:off x="1118104" y="1970250"/>
            <a:ext cx="2013600" cy="2318025"/>
            <a:chOff x="520204" y="1970250"/>
            <a:chExt cx="2013600" cy="2318025"/>
          </a:xfrm>
        </p:grpSpPr>
        <p:sp>
          <p:nvSpPr>
            <p:cNvPr id="107" name="Google Shape;107;p18"/>
            <p:cNvSpPr/>
            <p:nvPr/>
          </p:nvSpPr>
          <p:spPr>
            <a:xfrm>
              <a:off x="765599" y="1970250"/>
              <a:ext cx="1522800" cy="1522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8"/>
            <p:cNvSpPr txBox="1"/>
            <p:nvPr/>
          </p:nvSpPr>
          <p:spPr>
            <a:xfrm>
              <a:off x="520204" y="3577875"/>
              <a:ext cx="2013600" cy="71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800">
                  <a:solidFill>
                    <a:srgbClr val="004987"/>
                  </a:solidFill>
                  <a:latin typeface="Averia Serif Libre"/>
                  <a:ea typeface="Averia Serif Libre"/>
                  <a:cs typeface="Averia Serif Libre"/>
                  <a:sym typeface="Averia Serif Libre"/>
                </a:rPr>
                <a:t>Aathirah</a:t>
              </a:r>
              <a:endParaRPr sz="1800">
                <a:solidFill>
                  <a:srgbClr val="004987"/>
                </a:solidFill>
                <a:latin typeface="Averia Serif Libre"/>
                <a:ea typeface="Averia Serif Libre"/>
                <a:cs typeface="Averia Serif Libre"/>
                <a:sym typeface="Averia Serif Libre"/>
              </a:endParaRPr>
            </a:p>
          </p:txBody>
        </p:sp>
      </p:grpSp>
      <p:pic>
        <p:nvPicPr>
          <p:cNvPr id="109" name="Google Shape;109;p18"/>
          <p:cNvPicPr preferRelativeResize="0"/>
          <p:nvPr/>
        </p:nvPicPr>
        <p:blipFill>
          <a:blip r:embed="rId5">
            <a:alphaModFix/>
          </a:blip>
          <a:stretch>
            <a:fillRect/>
          </a:stretch>
        </p:blipFill>
        <p:spPr>
          <a:xfrm>
            <a:off x="1323725" y="1869625"/>
            <a:ext cx="1653674" cy="1653674"/>
          </a:xfrm>
          <a:prstGeom prst="rect">
            <a:avLst/>
          </a:prstGeom>
          <a:noFill/>
          <a:ln>
            <a:noFill/>
          </a:ln>
        </p:spPr>
      </p:pic>
      <p:pic>
        <p:nvPicPr>
          <p:cNvPr id="110" name="Google Shape;110;p18"/>
          <p:cNvPicPr preferRelativeResize="0"/>
          <p:nvPr/>
        </p:nvPicPr>
        <p:blipFill>
          <a:blip r:embed="rId6">
            <a:alphaModFix/>
          </a:blip>
          <a:stretch>
            <a:fillRect/>
          </a:stretch>
        </p:blipFill>
        <p:spPr>
          <a:xfrm>
            <a:off x="3871963" y="1868925"/>
            <a:ext cx="1655065" cy="16550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9"/>
          <p:cNvSpPr txBox="1"/>
          <p:nvPr/>
        </p:nvSpPr>
        <p:spPr>
          <a:xfrm>
            <a:off x="470375" y="588527"/>
            <a:ext cx="7184700" cy="1011900"/>
          </a:xfrm>
          <a:prstGeom prst="rect">
            <a:avLst/>
          </a:prstGeom>
          <a:solidFill>
            <a:srgbClr val="FF94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lang="en" sz="3200">
                <a:solidFill>
                  <a:srgbClr val="004987"/>
                </a:solidFill>
                <a:latin typeface="Averia Serif Libre"/>
                <a:ea typeface="Averia Serif Libre"/>
                <a:cs typeface="Averia Serif Libre"/>
                <a:sym typeface="Averia Serif Libre"/>
              </a:rPr>
              <a:t>Problem Statement and Objective</a:t>
            </a:r>
            <a:endParaRPr b="1" i="0" sz="3200" u="none" cap="none" strike="noStrike">
              <a:solidFill>
                <a:srgbClr val="004987"/>
              </a:solidFill>
              <a:latin typeface="Averia Serif Libre"/>
              <a:ea typeface="Averia Serif Libre"/>
              <a:cs typeface="Averia Serif Libre"/>
              <a:sym typeface="Averia Serif Libre"/>
            </a:endParaRPr>
          </a:p>
        </p:txBody>
      </p:sp>
      <p:pic>
        <p:nvPicPr>
          <p:cNvPr id="116" name="Google Shape;116;p19"/>
          <p:cNvPicPr preferRelativeResize="0"/>
          <p:nvPr/>
        </p:nvPicPr>
        <p:blipFill rotWithShape="1">
          <a:blip r:embed="rId3">
            <a:alphaModFix/>
          </a:blip>
          <a:srcRect b="179" l="0" r="0" t="179"/>
          <a:stretch/>
        </p:blipFill>
        <p:spPr>
          <a:xfrm>
            <a:off x="7548375" y="182875"/>
            <a:ext cx="1138428" cy="274320"/>
          </a:xfrm>
          <a:prstGeom prst="rect">
            <a:avLst/>
          </a:prstGeom>
          <a:noFill/>
          <a:ln>
            <a:noFill/>
          </a:ln>
        </p:spPr>
      </p:pic>
      <p:sp>
        <p:nvSpPr>
          <p:cNvPr id="117" name="Google Shape;117;p19"/>
          <p:cNvSpPr txBox="1"/>
          <p:nvPr/>
        </p:nvSpPr>
        <p:spPr>
          <a:xfrm>
            <a:off x="470375" y="1838800"/>
            <a:ext cx="73809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4B85"/>
                </a:solidFill>
                <a:latin typeface="Averia Serif Libre"/>
                <a:ea typeface="Averia Serif Libre"/>
                <a:cs typeface="Averia Serif Libre"/>
                <a:sym typeface="Averia Serif Libre"/>
              </a:rPr>
              <a:t>Mengejar kebahagiaan telah menjadi tujuan utama dalam masyarakat selama ini. Skor Indeks Kebahagiaan adalah ukuran kesejahteraan yang mendapat banyak perhatian dalam beberapa tahun terakhir sebagai indikator kemakmuran dan kualitas hidup suatu negara secara keseluruhan</a:t>
            </a:r>
            <a:endParaRPr>
              <a:solidFill>
                <a:srgbClr val="004B85"/>
              </a:solidFill>
              <a:latin typeface="Averia Serif Libre"/>
              <a:ea typeface="Averia Serif Libre"/>
              <a:cs typeface="Averia Serif Libre"/>
              <a:sym typeface="Averia Serif Libre"/>
            </a:endParaRPr>
          </a:p>
          <a:p>
            <a:pPr indent="0" lvl="0" marL="0" rtl="0" algn="l">
              <a:spcBef>
                <a:spcPts val="0"/>
              </a:spcBef>
              <a:spcAft>
                <a:spcPts val="0"/>
              </a:spcAft>
              <a:buNone/>
            </a:pPr>
            <a:r>
              <a:t/>
            </a:r>
            <a:endParaRPr>
              <a:solidFill>
                <a:srgbClr val="004B85"/>
              </a:solidFill>
              <a:latin typeface="Averia Serif Libre"/>
              <a:ea typeface="Averia Serif Libre"/>
              <a:cs typeface="Averia Serif Libre"/>
              <a:sym typeface="Averia Serif Libre"/>
            </a:endParaRPr>
          </a:p>
          <a:p>
            <a:pPr indent="0" lvl="0" marL="0" rtl="0" algn="l">
              <a:spcBef>
                <a:spcPts val="0"/>
              </a:spcBef>
              <a:spcAft>
                <a:spcPts val="0"/>
              </a:spcAft>
              <a:buNone/>
            </a:pPr>
            <a:r>
              <a:rPr lang="en">
                <a:solidFill>
                  <a:srgbClr val="004B85"/>
                </a:solidFill>
                <a:latin typeface="Averia Serif Libre"/>
                <a:ea typeface="Averia Serif Libre"/>
                <a:cs typeface="Averia Serif Libre"/>
                <a:sym typeface="Averia Serif Libre"/>
              </a:rPr>
              <a:t>A. Problem</a:t>
            </a:r>
            <a:endParaRPr>
              <a:solidFill>
                <a:srgbClr val="004B85"/>
              </a:solidFill>
              <a:latin typeface="Averia Serif Libre"/>
              <a:ea typeface="Averia Serif Libre"/>
              <a:cs typeface="Averia Serif Libre"/>
              <a:sym typeface="Averia Serif Libre"/>
            </a:endParaRPr>
          </a:p>
          <a:p>
            <a:pPr indent="0" lvl="0" marL="0" rtl="0" algn="l">
              <a:spcBef>
                <a:spcPts val="0"/>
              </a:spcBef>
              <a:spcAft>
                <a:spcPts val="0"/>
              </a:spcAft>
              <a:buNone/>
            </a:pPr>
            <a:r>
              <a:rPr lang="en">
                <a:solidFill>
                  <a:srgbClr val="004B85"/>
                </a:solidFill>
                <a:latin typeface="Averia Serif Libre"/>
                <a:ea typeface="Averia Serif Libre"/>
                <a:cs typeface="Averia Serif Libre"/>
                <a:sym typeface="Averia Serif Libre"/>
              </a:rPr>
              <a:t>Apa saja yang mempengaruhi indeks kebahagiaan hidup?</a:t>
            </a:r>
            <a:endParaRPr>
              <a:solidFill>
                <a:srgbClr val="004B85"/>
              </a:solidFill>
              <a:latin typeface="Averia Serif Libre"/>
              <a:ea typeface="Averia Serif Libre"/>
              <a:cs typeface="Averia Serif Libre"/>
              <a:sym typeface="Averia Serif Libre"/>
            </a:endParaRPr>
          </a:p>
          <a:p>
            <a:pPr indent="0" lvl="0" marL="0" rtl="0" algn="l">
              <a:spcBef>
                <a:spcPts val="0"/>
              </a:spcBef>
              <a:spcAft>
                <a:spcPts val="0"/>
              </a:spcAft>
              <a:buNone/>
            </a:pPr>
            <a:r>
              <a:t/>
            </a:r>
            <a:endParaRPr>
              <a:solidFill>
                <a:srgbClr val="004B85"/>
              </a:solidFill>
              <a:latin typeface="Averia Serif Libre"/>
              <a:ea typeface="Averia Serif Libre"/>
              <a:cs typeface="Averia Serif Libre"/>
              <a:sym typeface="Averia Serif Libre"/>
            </a:endParaRPr>
          </a:p>
          <a:p>
            <a:pPr indent="0" lvl="0" marL="0" rtl="0" algn="l">
              <a:spcBef>
                <a:spcPts val="0"/>
              </a:spcBef>
              <a:spcAft>
                <a:spcPts val="0"/>
              </a:spcAft>
              <a:buNone/>
            </a:pPr>
            <a:r>
              <a:rPr lang="en">
                <a:solidFill>
                  <a:srgbClr val="004B85"/>
                </a:solidFill>
                <a:latin typeface="Averia Serif Libre"/>
                <a:ea typeface="Averia Serif Libre"/>
                <a:cs typeface="Averia Serif Libre"/>
                <a:sym typeface="Averia Serif Libre"/>
              </a:rPr>
              <a:t>B. Objective</a:t>
            </a:r>
            <a:endParaRPr>
              <a:solidFill>
                <a:srgbClr val="004B85"/>
              </a:solidFill>
              <a:latin typeface="Averia Serif Libre"/>
              <a:ea typeface="Averia Serif Libre"/>
              <a:cs typeface="Averia Serif Libre"/>
              <a:sym typeface="Averia Serif Libre"/>
            </a:endParaRPr>
          </a:p>
          <a:p>
            <a:pPr indent="0" lvl="0" marL="0" rtl="0" algn="l">
              <a:spcBef>
                <a:spcPts val="0"/>
              </a:spcBef>
              <a:spcAft>
                <a:spcPts val="0"/>
              </a:spcAft>
              <a:buNone/>
            </a:pPr>
            <a:r>
              <a:rPr lang="en">
                <a:solidFill>
                  <a:srgbClr val="004B85"/>
                </a:solidFill>
                <a:latin typeface="Averia Serif Libre"/>
                <a:ea typeface="Averia Serif Libre"/>
                <a:cs typeface="Averia Serif Libre"/>
                <a:sym typeface="Averia Serif Libre"/>
              </a:rPr>
              <a:t>Akan dibuat model prediksi nilai kebahagiaan, sehingga ini dapat membantu pemerintah selaku pembuat kebijakan dan pemangku kepentingan dalam mengidentifikasi daerah yang masih mempunyai indeks kebahagiaan di bawah rata-rata sehingga dapat membuat kebijakan yang tepat.</a:t>
            </a:r>
            <a:endParaRPr>
              <a:solidFill>
                <a:srgbClr val="004B85"/>
              </a:solidFill>
              <a:latin typeface="Averia Serif Libre"/>
              <a:ea typeface="Averia Serif Libre"/>
              <a:cs typeface="Averia Serif Libre"/>
              <a:sym typeface="Averia Serif Libr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0"/>
          <p:cNvSpPr txBox="1"/>
          <p:nvPr/>
        </p:nvSpPr>
        <p:spPr>
          <a:xfrm>
            <a:off x="457200" y="229300"/>
            <a:ext cx="7184700" cy="779400"/>
          </a:xfrm>
          <a:prstGeom prst="rect">
            <a:avLst/>
          </a:prstGeom>
          <a:solidFill>
            <a:srgbClr val="FF94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lang="en" sz="3200">
                <a:solidFill>
                  <a:srgbClr val="004987"/>
                </a:solidFill>
                <a:latin typeface="Averia Serif Libre"/>
                <a:ea typeface="Averia Serif Libre"/>
                <a:cs typeface="Averia Serif Libre"/>
                <a:sym typeface="Averia Serif Libre"/>
              </a:rPr>
              <a:t>Data Info </a:t>
            </a:r>
            <a:endParaRPr b="1" i="0" sz="3200" u="none" cap="none" strike="noStrike">
              <a:solidFill>
                <a:srgbClr val="004987"/>
              </a:solidFill>
              <a:latin typeface="Averia Serif Libre"/>
              <a:ea typeface="Averia Serif Libre"/>
              <a:cs typeface="Averia Serif Libre"/>
              <a:sym typeface="Averia Serif Libre"/>
            </a:endParaRPr>
          </a:p>
        </p:txBody>
      </p:sp>
      <p:pic>
        <p:nvPicPr>
          <p:cNvPr id="123" name="Google Shape;123;p20"/>
          <p:cNvPicPr preferRelativeResize="0"/>
          <p:nvPr/>
        </p:nvPicPr>
        <p:blipFill rotWithShape="1">
          <a:blip r:embed="rId3">
            <a:alphaModFix/>
          </a:blip>
          <a:srcRect b="179" l="0" r="0" t="179"/>
          <a:stretch/>
        </p:blipFill>
        <p:spPr>
          <a:xfrm>
            <a:off x="7548375" y="182875"/>
            <a:ext cx="1138428" cy="274320"/>
          </a:xfrm>
          <a:prstGeom prst="rect">
            <a:avLst/>
          </a:prstGeom>
          <a:noFill/>
          <a:ln>
            <a:noFill/>
          </a:ln>
        </p:spPr>
      </p:pic>
      <p:sp>
        <p:nvSpPr>
          <p:cNvPr id="124" name="Google Shape;124;p20"/>
          <p:cNvSpPr txBox="1"/>
          <p:nvPr>
            <p:ph idx="1" type="body"/>
          </p:nvPr>
        </p:nvSpPr>
        <p:spPr>
          <a:xfrm>
            <a:off x="457200" y="1157000"/>
            <a:ext cx="8520600" cy="35601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Clr>
                <a:srgbClr val="004B85"/>
              </a:buClr>
              <a:buSzPct val="100000"/>
              <a:buFont typeface="Averia Serif Libre"/>
              <a:buChar char="★"/>
            </a:pPr>
            <a:r>
              <a:rPr lang="en">
                <a:solidFill>
                  <a:srgbClr val="004B85"/>
                </a:solidFill>
                <a:latin typeface="Averia Serif Libre"/>
                <a:ea typeface="Averia Serif Libre"/>
                <a:cs typeface="Averia Serif Libre"/>
                <a:sym typeface="Averia Serif Libre"/>
              </a:rPr>
              <a:t>Data Values : 312 rows, 10 Columns</a:t>
            </a:r>
            <a:endParaRPr>
              <a:solidFill>
                <a:srgbClr val="004B85"/>
              </a:solidFill>
              <a:latin typeface="Averia Serif Libre"/>
              <a:ea typeface="Averia Serif Libre"/>
              <a:cs typeface="Averia Serif Libre"/>
              <a:sym typeface="Averia Serif Libre"/>
            </a:endParaRPr>
          </a:p>
          <a:p>
            <a:pPr indent="-308610" lvl="0" marL="457200" rtl="0" algn="l">
              <a:spcBef>
                <a:spcPts val="0"/>
              </a:spcBef>
              <a:spcAft>
                <a:spcPts val="0"/>
              </a:spcAft>
              <a:buClr>
                <a:srgbClr val="004B85"/>
              </a:buClr>
              <a:buSzPct val="100000"/>
              <a:buFont typeface="Averia Serif Libre"/>
              <a:buChar char="★"/>
            </a:pPr>
            <a:r>
              <a:rPr lang="en">
                <a:solidFill>
                  <a:srgbClr val="004B85"/>
                </a:solidFill>
                <a:latin typeface="Averia Serif Libre"/>
                <a:ea typeface="Averia Serif Libre"/>
                <a:cs typeface="Averia Serif Libre"/>
                <a:sym typeface="Averia Serif Libre"/>
              </a:rPr>
              <a:t>Provided Information : </a:t>
            </a:r>
            <a:endParaRPr>
              <a:solidFill>
                <a:srgbClr val="004B85"/>
              </a:solidFill>
              <a:latin typeface="Averia Serif Libre"/>
              <a:ea typeface="Averia Serif Libre"/>
              <a:cs typeface="Averia Serif Libre"/>
              <a:sym typeface="Averia Serif Libre"/>
            </a:endParaRPr>
          </a:p>
          <a:p>
            <a:pPr indent="0" lvl="0" marL="457200" rtl="0" algn="l">
              <a:spcBef>
                <a:spcPts val="1200"/>
              </a:spcBef>
              <a:spcAft>
                <a:spcPts val="0"/>
              </a:spcAft>
              <a:buNone/>
            </a:pPr>
            <a:r>
              <a:rPr lang="en">
                <a:solidFill>
                  <a:srgbClr val="004B85"/>
                </a:solidFill>
                <a:latin typeface="Averia Serif Libre"/>
                <a:ea typeface="Averia Serif Libre"/>
                <a:cs typeface="Averia Serif Libre"/>
                <a:sym typeface="Averia Serif Libre"/>
              </a:rPr>
              <a:t>      Categorical :								</a:t>
            </a:r>
            <a:endParaRPr>
              <a:solidFill>
                <a:srgbClr val="004B85"/>
              </a:solidFill>
              <a:latin typeface="Averia Serif Libre"/>
              <a:ea typeface="Averia Serif Libre"/>
              <a:cs typeface="Averia Serif Libre"/>
              <a:sym typeface="Averia Serif Libre"/>
            </a:endParaRPr>
          </a:p>
          <a:p>
            <a:pPr indent="-308610" lvl="0" marL="457200" rtl="0" algn="l">
              <a:spcBef>
                <a:spcPts val="1200"/>
              </a:spcBef>
              <a:spcAft>
                <a:spcPts val="0"/>
              </a:spcAft>
              <a:buClr>
                <a:srgbClr val="004B85"/>
              </a:buClr>
              <a:buSzPct val="100000"/>
              <a:buFont typeface="Averia Serif Libre"/>
              <a:buChar char="●"/>
            </a:pPr>
            <a:r>
              <a:rPr lang="en">
                <a:solidFill>
                  <a:srgbClr val="004B85"/>
                </a:solidFill>
                <a:latin typeface="Averia Serif Libre"/>
                <a:ea typeface="Averia Serif Libre"/>
                <a:cs typeface="Averia Serif Libre"/>
                <a:sym typeface="Averia Serif Libre"/>
              </a:rPr>
              <a:t>Overall Rank 							</a:t>
            </a:r>
            <a:endParaRPr>
              <a:solidFill>
                <a:srgbClr val="004B85"/>
              </a:solidFill>
              <a:latin typeface="Averia Serif Libre"/>
              <a:ea typeface="Averia Serif Libre"/>
              <a:cs typeface="Averia Serif Libre"/>
              <a:sym typeface="Averia Serif Libre"/>
            </a:endParaRPr>
          </a:p>
          <a:p>
            <a:pPr indent="-308610" lvl="0" marL="457200" rtl="0" algn="l">
              <a:spcBef>
                <a:spcPts val="0"/>
              </a:spcBef>
              <a:spcAft>
                <a:spcPts val="0"/>
              </a:spcAft>
              <a:buClr>
                <a:srgbClr val="004B85"/>
              </a:buClr>
              <a:buSzPct val="100000"/>
              <a:buFont typeface="Averia Serif Libre"/>
              <a:buChar char="●"/>
            </a:pPr>
            <a:r>
              <a:rPr lang="en">
                <a:solidFill>
                  <a:srgbClr val="004B85"/>
                </a:solidFill>
                <a:latin typeface="Averia Serif Libre"/>
                <a:ea typeface="Averia Serif Libre"/>
                <a:cs typeface="Averia Serif Libre"/>
                <a:sym typeface="Averia Serif Libre"/>
              </a:rPr>
              <a:t>Country or Region </a:t>
            </a:r>
            <a:endParaRPr>
              <a:solidFill>
                <a:srgbClr val="004B85"/>
              </a:solidFill>
              <a:latin typeface="Averia Serif Libre"/>
              <a:ea typeface="Averia Serif Libre"/>
              <a:cs typeface="Averia Serif Libre"/>
              <a:sym typeface="Averia Serif Libre"/>
            </a:endParaRPr>
          </a:p>
          <a:p>
            <a:pPr indent="-308610" lvl="0" marL="457200" rtl="0" algn="l">
              <a:spcBef>
                <a:spcPts val="0"/>
              </a:spcBef>
              <a:spcAft>
                <a:spcPts val="0"/>
              </a:spcAft>
              <a:buClr>
                <a:srgbClr val="004B85"/>
              </a:buClr>
              <a:buSzPct val="100000"/>
              <a:buFont typeface="Averia Serif Libre"/>
              <a:buChar char="●"/>
            </a:pPr>
            <a:r>
              <a:rPr lang="en">
                <a:solidFill>
                  <a:srgbClr val="004B85"/>
                </a:solidFill>
                <a:latin typeface="Averia Serif Libre"/>
                <a:ea typeface="Averia Serif Libre"/>
                <a:cs typeface="Averia Serif Libre"/>
                <a:sym typeface="Averia Serif Libre"/>
              </a:rPr>
              <a:t>Year</a:t>
            </a:r>
            <a:endParaRPr>
              <a:solidFill>
                <a:srgbClr val="004B85"/>
              </a:solidFill>
              <a:latin typeface="Averia Serif Libre"/>
              <a:ea typeface="Averia Serif Libre"/>
              <a:cs typeface="Averia Serif Libre"/>
              <a:sym typeface="Averia Serif Libre"/>
            </a:endParaRPr>
          </a:p>
          <a:p>
            <a:pPr indent="0" lvl="0" marL="914400" rtl="0" algn="l">
              <a:spcBef>
                <a:spcPts val="1200"/>
              </a:spcBef>
              <a:spcAft>
                <a:spcPts val="0"/>
              </a:spcAft>
              <a:buNone/>
            </a:pPr>
            <a:r>
              <a:rPr lang="en">
                <a:solidFill>
                  <a:srgbClr val="004B85"/>
                </a:solidFill>
                <a:latin typeface="Averia Serif Libre"/>
                <a:ea typeface="Averia Serif Libre"/>
                <a:cs typeface="Averia Serif Libre"/>
                <a:sym typeface="Averia Serif Libre"/>
              </a:rPr>
              <a:t>Numerical : </a:t>
            </a:r>
            <a:endParaRPr>
              <a:solidFill>
                <a:srgbClr val="004B85"/>
              </a:solidFill>
              <a:latin typeface="Averia Serif Libre"/>
              <a:ea typeface="Averia Serif Libre"/>
              <a:cs typeface="Averia Serif Libre"/>
              <a:sym typeface="Averia Serif Libre"/>
            </a:endParaRPr>
          </a:p>
          <a:p>
            <a:pPr indent="-308610" lvl="0" marL="457200" rtl="0" algn="l">
              <a:spcBef>
                <a:spcPts val="1200"/>
              </a:spcBef>
              <a:spcAft>
                <a:spcPts val="0"/>
              </a:spcAft>
              <a:buClr>
                <a:srgbClr val="004B85"/>
              </a:buClr>
              <a:buSzPct val="100000"/>
              <a:buFont typeface="Averia Serif Libre"/>
              <a:buChar char="●"/>
            </a:pPr>
            <a:r>
              <a:rPr lang="en">
                <a:solidFill>
                  <a:srgbClr val="004B85"/>
                </a:solidFill>
                <a:latin typeface="Averia Serif Libre"/>
                <a:ea typeface="Averia Serif Libre"/>
                <a:cs typeface="Averia Serif Libre"/>
                <a:sym typeface="Averia Serif Libre"/>
              </a:rPr>
              <a:t>Score</a:t>
            </a:r>
            <a:endParaRPr>
              <a:solidFill>
                <a:srgbClr val="004B85"/>
              </a:solidFill>
              <a:latin typeface="Averia Serif Libre"/>
              <a:ea typeface="Averia Serif Libre"/>
              <a:cs typeface="Averia Serif Libre"/>
              <a:sym typeface="Averia Serif Libre"/>
            </a:endParaRPr>
          </a:p>
          <a:p>
            <a:pPr indent="-308610" lvl="0" marL="457200" rtl="0" algn="l">
              <a:spcBef>
                <a:spcPts val="0"/>
              </a:spcBef>
              <a:spcAft>
                <a:spcPts val="0"/>
              </a:spcAft>
              <a:buClr>
                <a:srgbClr val="004B85"/>
              </a:buClr>
              <a:buSzPct val="100000"/>
              <a:buFont typeface="Averia Serif Libre"/>
              <a:buChar char="●"/>
            </a:pPr>
            <a:r>
              <a:rPr lang="en">
                <a:solidFill>
                  <a:srgbClr val="004B85"/>
                </a:solidFill>
                <a:latin typeface="Averia Serif Libre"/>
                <a:ea typeface="Averia Serif Libre"/>
                <a:cs typeface="Averia Serif Libre"/>
                <a:sym typeface="Averia Serif Libre"/>
              </a:rPr>
              <a:t>GDP per capita </a:t>
            </a:r>
            <a:endParaRPr>
              <a:solidFill>
                <a:srgbClr val="004B85"/>
              </a:solidFill>
              <a:latin typeface="Averia Serif Libre"/>
              <a:ea typeface="Averia Serif Libre"/>
              <a:cs typeface="Averia Serif Libre"/>
              <a:sym typeface="Averia Serif Libre"/>
            </a:endParaRPr>
          </a:p>
          <a:p>
            <a:pPr indent="-308610" lvl="0" marL="457200" rtl="0" algn="l">
              <a:spcBef>
                <a:spcPts val="0"/>
              </a:spcBef>
              <a:spcAft>
                <a:spcPts val="0"/>
              </a:spcAft>
              <a:buClr>
                <a:srgbClr val="004B85"/>
              </a:buClr>
              <a:buSzPct val="100000"/>
              <a:buFont typeface="Averia Serif Libre"/>
              <a:buChar char="●"/>
            </a:pPr>
            <a:r>
              <a:rPr lang="en">
                <a:solidFill>
                  <a:srgbClr val="004B85"/>
                </a:solidFill>
                <a:latin typeface="Averia Serif Libre"/>
                <a:ea typeface="Averia Serif Libre"/>
                <a:cs typeface="Averia Serif Libre"/>
                <a:sym typeface="Averia Serif Libre"/>
              </a:rPr>
              <a:t>Social Support </a:t>
            </a:r>
            <a:endParaRPr>
              <a:solidFill>
                <a:srgbClr val="004B85"/>
              </a:solidFill>
              <a:latin typeface="Averia Serif Libre"/>
              <a:ea typeface="Averia Serif Libre"/>
              <a:cs typeface="Averia Serif Libre"/>
              <a:sym typeface="Averia Serif Libre"/>
            </a:endParaRPr>
          </a:p>
          <a:p>
            <a:pPr indent="-308610" lvl="0" marL="457200" rtl="0" algn="l">
              <a:spcBef>
                <a:spcPts val="0"/>
              </a:spcBef>
              <a:spcAft>
                <a:spcPts val="0"/>
              </a:spcAft>
              <a:buClr>
                <a:srgbClr val="004B85"/>
              </a:buClr>
              <a:buSzPct val="100000"/>
              <a:buFont typeface="Averia Serif Libre"/>
              <a:buChar char="●"/>
            </a:pPr>
            <a:r>
              <a:rPr lang="en">
                <a:solidFill>
                  <a:srgbClr val="004B85"/>
                </a:solidFill>
                <a:latin typeface="Averia Serif Libre"/>
                <a:ea typeface="Averia Serif Libre"/>
                <a:cs typeface="Averia Serif Libre"/>
                <a:sym typeface="Averia Serif Libre"/>
              </a:rPr>
              <a:t>Healthy life expectancy </a:t>
            </a:r>
            <a:endParaRPr>
              <a:solidFill>
                <a:srgbClr val="004B85"/>
              </a:solidFill>
              <a:latin typeface="Averia Serif Libre"/>
              <a:ea typeface="Averia Serif Libre"/>
              <a:cs typeface="Averia Serif Libre"/>
              <a:sym typeface="Averia Serif Libre"/>
            </a:endParaRPr>
          </a:p>
          <a:p>
            <a:pPr indent="-308610" lvl="0" marL="457200" rtl="0" algn="l">
              <a:spcBef>
                <a:spcPts val="0"/>
              </a:spcBef>
              <a:spcAft>
                <a:spcPts val="0"/>
              </a:spcAft>
              <a:buClr>
                <a:srgbClr val="004B85"/>
              </a:buClr>
              <a:buSzPct val="100000"/>
              <a:buFont typeface="Averia Serif Libre"/>
              <a:buChar char="●"/>
            </a:pPr>
            <a:r>
              <a:rPr lang="en">
                <a:solidFill>
                  <a:srgbClr val="004B85"/>
                </a:solidFill>
                <a:latin typeface="Averia Serif Libre"/>
                <a:ea typeface="Averia Serif Libre"/>
                <a:cs typeface="Averia Serif Libre"/>
                <a:sym typeface="Averia Serif Libre"/>
              </a:rPr>
              <a:t>Freedom to make life choice </a:t>
            </a:r>
            <a:endParaRPr>
              <a:solidFill>
                <a:srgbClr val="004B85"/>
              </a:solidFill>
              <a:latin typeface="Averia Serif Libre"/>
              <a:ea typeface="Averia Serif Libre"/>
              <a:cs typeface="Averia Serif Libre"/>
              <a:sym typeface="Averia Serif Libre"/>
            </a:endParaRPr>
          </a:p>
          <a:p>
            <a:pPr indent="-308610" lvl="0" marL="457200" rtl="0" algn="l">
              <a:spcBef>
                <a:spcPts val="0"/>
              </a:spcBef>
              <a:spcAft>
                <a:spcPts val="0"/>
              </a:spcAft>
              <a:buClr>
                <a:srgbClr val="004B85"/>
              </a:buClr>
              <a:buSzPct val="100000"/>
              <a:buFont typeface="Averia Serif Libre"/>
              <a:buChar char="●"/>
            </a:pPr>
            <a:r>
              <a:rPr lang="en">
                <a:solidFill>
                  <a:srgbClr val="004B85"/>
                </a:solidFill>
                <a:latin typeface="Averia Serif Libre"/>
                <a:ea typeface="Averia Serif Libre"/>
                <a:cs typeface="Averia Serif Libre"/>
                <a:sym typeface="Averia Serif Libre"/>
              </a:rPr>
              <a:t>Generosity </a:t>
            </a:r>
            <a:endParaRPr>
              <a:solidFill>
                <a:srgbClr val="004B85"/>
              </a:solidFill>
              <a:latin typeface="Averia Serif Libre"/>
              <a:ea typeface="Averia Serif Libre"/>
              <a:cs typeface="Averia Serif Libre"/>
              <a:sym typeface="Averia Serif Libre"/>
            </a:endParaRPr>
          </a:p>
          <a:p>
            <a:pPr indent="-308610" lvl="0" marL="457200" rtl="0" algn="l">
              <a:spcBef>
                <a:spcPts val="0"/>
              </a:spcBef>
              <a:spcAft>
                <a:spcPts val="0"/>
              </a:spcAft>
              <a:buClr>
                <a:srgbClr val="004B85"/>
              </a:buClr>
              <a:buSzPct val="100000"/>
              <a:buFont typeface="Averia Serif Libre"/>
              <a:buChar char="●"/>
            </a:pPr>
            <a:r>
              <a:rPr lang="en">
                <a:solidFill>
                  <a:srgbClr val="004B85"/>
                </a:solidFill>
                <a:latin typeface="Averia Serif Libre"/>
                <a:ea typeface="Averia Serif Libre"/>
                <a:cs typeface="Averia Serif Libre"/>
                <a:sym typeface="Averia Serif Libre"/>
              </a:rPr>
              <a:t>Perception of Corruption</a:t>
            </a:r>
            <a:endParaRPr>
              <a:solidFill>
                <a:srgbClr val="004B85"/>
              </a:solidFill>
              <a:latin typeface="Averia Serif Libre"/>
              <a:ea typeface="Averia Serif Libre"/>
              <a:cs typeface="Averia Serif Libre"/>
              <a:sym typeface="Averia Serif Libre"/>
            </a:endParaRPr>
          </a:p>
        </p:txBody>
      </p:sp>
      <p:pic>
        <p:nvPicPr>
          <p:cNvPr id="125" name="Google Shape;125;p20"/>
          <p:cNvPicPr preferRelativeResize="0"/>
          <p:nvPr/>
        </p:nvPicPr>
        <p:blipFill>
          <a:blip r:embed="rId4">
            <a:alphaModFix/>
          </a:blip>
          <a:stretch>
            <a:fillRect/>
          </a:stretch>
        </p:blipFill>
        <p:spPr>
          <a:xfrm>
            <a:off x="3973350" y="1219850"/>
            <a:ext cx="4713450" cy="3319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4B85">
            <a:alpha val="76540"/>
          </a:srgbClr>
        </a:solidFill>
      </p:bgPr>
    </p:bg>
    <p:spTree>
      <p:nvGrpSpPr>
        <p:cNvPr id="129" name="Shape 129"/>
        <p:cNvGrpSpPr/>
        <p:nvPr/>
      </p:nvGrpSpPr>
      <p:grpSpPr>
        <a:xfrm>
          <a:off x="0" y="0"/>
          <a:ext cx="0" cy="0"/>
          <a:chOff x="0" y="0"/>
          <a:chExt cx="0" cy="0"/>
        </a:xfrm>
      </p:grpSpPr>
      <p:sp>
        <p:nvSpPr>
          <p:cNvPr id="130" name="Google Shape;130;p21"/>
          <p:cNvSpPr/>
          <p:nvPr/>
        </p:nvSpPr>
        <p:spPr>
          <a:xfrm>
            <a:off x="1959600" y="-6537"/>
            <a:ext cx="5224800" cy="5224800"/>
          </a:xfrm>
          <a:prstGeom prst="ellipse">
            <a:avLst/>
          </a:prstGeom>
          <a:solidFill>
            <a:srgbClr val="D0E0E3"/>
          </a:solidFill>
          <a:ln cap="flat" cmpd="sng" w="9525">
            <a:solidFill>
              <a:srgbClr val="E9F0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1"/>
          <p:cNvSpPr/>
          <p:nvPr/>
        </p:nvSpPr>
        <p:spPr>
          <a:xfrm>
            <a:off x="5311150" y="-74762"/>
            <a:ext cx="670800" cy="670800"/>
          </a:xfrm>
          <a:prstGeom prst="ellipse">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 name="Google Shape;132;p21"/>
          <p:cNvPicPr preferRelativeResize="0"/>
          <p:nvPr/>
        </p:nvPicPr>
        <p:blipFill rotWithShape="1">
          <a:blip r:embed="rId3">
            <a:alphaModFix/>
          </a:blip>
          <a:srcRect b="0" l="9313" r="11958" t="0"/>
          <a:stretch/>
        </p:blipFill>
        <p:spPr>
          <a:xfrm flipH="1">
            <a:off x="3348448" y="3496477"/>
            <a:ext cx="2428601" cy="219075"/>
          </a:xfrm>
          <a:prstGeom prst="rect">
            <a:avLst/>
          </a:prstGeom>
          <a:noFill/>
          <a:ln>
            <a:noFill/>
          </a:ln>
        </p:spPr>
      </p:pic>
      <p:sp>
        <p:nvSpPr>
          <p:cNvPr id="133" name="Google Shape;133;p21"/>
          <p:cNvSpPr txBox="1"/>
          <p:nvPr/>
        </p:nvSpPr>
        <p:spPr>
          <a:xfrm>
            <a:off x="2319400" y="1618025"/>
            <a:ext cx="4542300" cy="1500600"/>
          </a:xfrm>
          <a:prstGeom prst="rect">
            <a:avLst/>
          </a:prstGeom>
          <a:solidFill>
            <a:srgbClr val="D0E0E3"/>
          </a:solidFill>
          <a:ln>
            <a:noFill/>
          </a:ln>
        </p:spPr>
        <p:txBody>
          <a:bodyPr anchorCtr="0" anchor="ctr" bIns="45700" lIns="91425" spcFirstLastPara="1" rIns="91425" wrap="square" tIns="45700">
            <a:noAutofit/>
          </a:bodyPr>
          <a:lstStyle/>
          <a:p>
            <a:pPr indent="0" lvl="0" marL="0" rtl="0" algn="ctr">
              <a:lnSpc>
                <a:spcPct val="90000"/>
              </a:lnSpc>
              <a:spcBef>
                <a:spcPts val="1000"/>
              </a:spcBef>
              <a:spcAft>
                <a:spcPts val="0"/>
              </a:spcAft>
              <a:buNone/>
            </a:pPr>
            <a:r>
              <a:rPr lang="en" sz="4100">
                <a:solidFill>
                  <a:srgbClr val="FFFFFF"/>
                </a:solidFill>
                <a:latin typeface="Averia Serif Libre"/>
                <a:ea typeface="Averia Serif Libre"/>
                <a:cs typeface="Averia Serif Libre"/>
                <a:sym typeface="Averia Serif Libre"/>
              </a:rPr>
              <a:t>EDA</a:t>
            </a:r>
            <a:endParaRPr sz="4100">
              <a:solidFill>
                <a:srgbClr val="FFFFFF"/>
              </a:solidFill>
              <a:latin typeface="Averia Serif Libre"/>
              <a:ea typeface="Averia Serif Libre"/>
              <a:cs typeface="Averia Serif Libre"/>
              <a:sym typeface="Averia Serif Libre"/>
            </a:endParaRPr>
          </a:p>
        </p:txBody>
      </p:sp>
      <p:pic>
        <p:nvPicPr>
          <p:cNvPr id="134" name="Google Shape;134;p21"/>
          <p:cNvPicPr preferRelativeResize="0"/>
          <p:nvPr/>
        </p:nvPicPr>
        <p:blipFill>
          <a:blip r:embed="rId4">
            <a:alphaModFix/>
          </a:blip>
          <a:stretch>
            <a:fillRect/>
          </a:stretch>
        </p:blipFill>
        <p:spPr>
          <a:xfrm>
            <a:off x="7548375" y="182875"/>
            <a:ext cx="1138428" cy="27432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2"/>
          <p:cNvSpPr txBox="1"/>
          <p:nvPr/>
        </p:nvSpPr>
        <p:spPr>
          <a:xfrm>
            <a:off x="457200" y="229328"/>
            <a:ext cx="7184700" cy="923100"/>
          </a:xfrm>
          <a:prstGeom prst="rect">
            <a:avLst/>
          </a:prstGeom>
          <a:solidFill>
            <a:srgbClr val="FF94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lang="en" sz="3200">
                <a:solidFill>
                  <a:srgbClr val="004987"/>
                </a:solidFill>
                <a:latin typeface="Averia Serif Libre"/>
                <a:ea typeface="Averia Serif Libre"/>
                <a:cs typeface="Averia Serif Libre"/>
                <a:sym typeface="Averia Serif Libre"/>
              </a:rPr>
              <a:t>Missing Values </a:t>
            </a:r>
            <a:endParaRPr b="1" i="0" sz="3200" u="none" cap="none" strike="noStrike">
              <a:solidFill>
                <a:srgbClr val="004987"/>
              </a:solidFill>
              <a:latin typeface="Averia Serif Libre"/>
              <a:ea typeface="Averia Serif Libre"/>
              <a:cs typeface="Averia Serif Libre"/>
              <a:sym typeface="Averia Serif Libre"/>
            </a:endParaRPr>
          </a:p>
        </p:txBody>
      </p:sp>
      <p:pic>
        <p:nvPicPr>
          <p:cNvPr id="140" name="Google Shape;140;p22"/>
          <p:cNvPicPr preferRelativeResize="0"/>
          <p:nvPr/>
        </p:nvPicPr>
        <p:blipFill rotWithShape="1">
          <a:blip r:embed="rId3">
            <a:alphaModFix/>
          </a:blip>
          <a:srcRect b="179" l="0" r="0" t="179"/>
          <a:stretch/>
        </p:blipFill>
        <p:spPr>
          <a:xfrm>
            <a:off x="7548375" y="182875"/>
            <a:ext cx="1138428" cy="274320"/>
          </a:xfrm>
          <a:prstGeom prst="rect">
            <a:avLst/>
          </a:prstGeom>
          <a:noFill/>
          <a:ln>
            <a:noFill/>
          </a:ln>
        </p:spPr>
      </p:pic>
      <p:sp>
        <p:nvSpPr>
          <p:cNvPr id="141" name="Google Shape;141;p22"/>
          <p:cNvSpPr txBox="1"/>
          <p:nvPr>
            <p:ph idx="1" type="body"/>
          </p:nvPr>
        </p:nvSpPr>
        <p:spPr>
          <a:xfrm>
            <a:off x="1280700" y="3055575"/>
            <a:ext cx="6582600" cy="108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FF947B"/>
                </a:solidFill>
                <a:latin typeface="Averia Serif Libre"/>
                <a:ea typeface="Averia Serif Libre"/>
                <a:cs typeface="Averia Serif Libre"/>
                <a:sym typeface="Averia Serif Libre"/>
              </a:rPr>
              <a:t>0 missing values &amp; corrections = data is clean </a:t>
            </a:r>
            <a:endParaRPr b="1" sz="2200">
              <a:solidFill>
                <a:srgbClr val="FF947B"/>
              </a:solidFill>
              <a:latin typeface="Averia Serif Libre"/>
              <a:ea typeface="Averia Serif Libre"/>
              <a:cs typeface="Averia Serif Libre"/>
              <a:sym typeface="Averia Serif Libre"/>
            </a:endParaRPr>
          </a:p>
          <a:p>
            <a:pPr indent="0" lvl="0" marL="0" rtl="0" algn="ctr">
              <a:spcBef>
                <a:spcPts val="1200"/>
              </a:spcBef>
              <a:spcAft>
                <a:spcPts val="1200"/>
              </a:spcAft>
              <a:buNone/>
            </a:pPr>
            <a:r>
              <a:t/>
            </a:r>
            <a:endParaRPr b="1" sz="2200">
              <a:solidFill>
                <a:srgbClr val="FF947B"/>
              </a:solidFill>
              <a:latin typeface="Averia Serif Libre"/>
              <a:ea typeface="Averia Serif Libre"/>
              <a:cs typeface="Averia Serif Libre"/>
              <a:sym typeface="Averia Serif Libre"/>
            </a:endParaRPr>
          </a:p>
        </p:txBody>
      </p:sp>
      <p:pic>
        <p:nvPicPr>
          <p:cNvPr id="142" name="Google Shape;142;p22"/>
          <p:cNvPicPr preferRelativeResize="0"/>
          <p:nvPr/>
        </p:nvPicPr>
        <p:blipFill>
          <a:blip r:embed="rId4">
            <a:alphaModFix/>
          </a:blip>
          <a:stretch>
            <a:fillRect/>
          </a:stretch>
        </p:blipFill>
        <p:spPr>
          <a:xfrm>
            <a:off x="1958765" y="1607290"/>
            <a:ext cx="5226450" cy="1448275"/>
          </a:xfrm>
          <a:prstGeom prst="rect">
            <a:avLst/>
          </a:prstGeom>
          <a:noFill/>
          <a:ln>
            <a:noFill/>
          </a:ln>
          <a:effectLst>
            <a:outerShdw blurRad="57150" rotWithShape="0" algn="bl" dir="5400000" dist="19050">
              <a:srgbClr val="000000">
                <a:alpha val="70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nvSpPr>
        <p:spPr>
          <a:xfrm>
            <a:off x="457200" y="229325"/>
            <a:ext cx="6782400" cy="632100"/>
          </a:xfrm>
          <a:prstGeom prst="rect">
            <a:avLst/>
          </a:prstGeom>
          <a:solidFill>
            <a:srgbClr val="FF94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lang="en" sz="3000">
                <a:solidFill>
                  <a:srgbClr val="004987"/>
                </a:solidFill>
                <a:latin typeface="Averia Serif Libre"/>
                <a:ea typeface="Averia Serif Libre"/>
                <a:cs typeface="Averia Serif Libre"/>
                <a:sym typeface="Averia Serif Libre"/>
              </a:rPr>
              <a:t>Data Insights - Through Exploration</a:t>
            </a:r>
            <a:endParaRPr b="1" i="0" sz="3000" u="none" cap="none" strike="noStrike">
              <a:solidFill>
                <a:srgbClr val="004987"/>
              </a:solidFill>
              <a:latin typeface="Averia Serif Libre"/>
              <a:ea typeface="Averia Serif Libre"/>
              <a:cs typeface="Averia Serif Libre"/>
              <a:sym typeface="Averia Serif Libre"/>
            </a:endParaRPr>
          </a:p>
        </p:txBody>
      </p:sp>
      <p:pic>
        <p:nvPicPr>
          <p:cNvPr id="148" name="Google Shape;148;p23"/>
          <p:cNvPicPr preferRelativeResize="0"/>
          <p:nvPr/>
        </p:nvPicPr>
        <p:blipFill rotWithShape="1">
          <a:blip r:embed="rId3">
            <a:alphaModFix/>
          </a:blip>
          <a:srcRect b="179" l="0" r="0" t="179"/>
          <a:stretch/>
        </p:blipFill>
        <p:spPr>
          <a:xfrm>
            <a:off x="7548375" y="182875"/>
            <a:ext cx="1138428" cy="274320"/>
          </a:xfrm>
          <a:prstGeom prst="rect">
            <a:avLst/>
          </a:prstGeom>
          <a:noFill/>
          <a:ln>
            <a:noFill/>
          </a:ln>
        </p:spPr>
      </p:pic>
      <p:pic>
        <p:nvPicPr>
          <p:cNvPr id="149" name="Google Shape;149;p23"/>
          <p:cNvPicPr preferRelativeResize="0"/>
          <p:nvPr/>
        </p:nvPicPr>
        <p:blipFill>
          <a:blip r:embed="rId4">
            <a:alphaModFix/>
          </a:blip>
          <a:stretch>
            <a:fillRect/>
          </a:stretch>
        </p:blipFill>
        <p:spPr>
          <a:xfrm>
            <a:off x="897250" y="1447203"/>
            <a:ext cx="3497576" cy="2762825"/>
          </a:xfrm>
          <a:prstGeom prst="rect">
            <a:avLst/>
          </a:prstGeom>
          <a:noFill/>
          <a:ln>
            <a:noFill/>
          </a:ln>
          <a:effectLst>
            <a:outerShdw blurRad="57150" rotWithShape="0" algn="bl" dir="5400000" dist="19050">
              <a:srgbClr val="000000">
                <a:alpha val="79000"/>
              </a:srgbClr>
            </a:outerShdw>
          </a:effectLst>
        </p:spPr>
      </p:pic>
      <p:pic>
        <p:nvPicPr>
          <p:cNvPr id="150" name="Google Shape;150;p23"/>
          <p:cNvPicPr preferRelativeResize="0"/>
          <p:nvPr/>
        </p:nvPicPr>
        <p:blipFill>
          <a:blip r:embed="rId5">
            <a:alphaModFix/>
          </a:blip>
          <a:stretch>
            <a:fillRect/>
          </a:stretch>
        </p:blipFill>
        <p:spPr>
          <a:xfrm>
            <a:off x="4742025" y="1498675"/>
            <a:ext cx="3497575" cy="2731251"/>
          </a:xfrm>
          <a:prstGeom prst="rect">
            <a:avLst/>
          </a:prstGeom>
          <a:noFill/>
          <a:ln>
            <a:noFill/>
          </a:ln>
          <a:effectLst>
            <a:outerShdw blurRad="57150" rotWithShape="0" algn="bl" dir="5400000" dist="19050">
              <a:srgbClr val="000000">
                <a:alpha val="79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4"/>
          <p:cNvSpPr txBox="1"/>
          <p:nvPr/>
        </p:nvSpPr>
        <p:spPr>
          <a:xfrm>
            <a:off x="457200" y="229325"/>
            <a:ext cx="6782400" cy="632100"/>
          </a:xfrm>
          <a:prstGeom prst="rect">
            <a:avLst/>
          </a:prstGeom>
          <a:solidFill>
            <a:srgbClr val="FF94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lang="en" sz="3000">
                <a:solidFill>
                  <a:srgbClr val="004987"/>
                </a:solidFill>
                <a:latin typeface="Averia Serif Libre"/>
                <a:ea typeface="Averia Serif Libre"/>
                <a:cs typeface="Averia Serif Libre"/>
                <a:sym typeface="Averia Serif Libre"/>
              </a:rPr>
              <a:t>Data Insights - Through Exploration</a:t>
            </a:r>
            <a:endParaRPr b="1" i="0" sz="3000" u="none" cap="none" strike="noStrike">
              <a:solidFill>
                <a:srgbClr val="004987"/>
              </a:solidFill>
              <a:latin typeface="Averia Serif Libre"/>
              <a:ea typeface="Averia Serif Libre"/>
              <a:cs typeface="Averia Serif Libre"/>
              <a:sym typeface="Averia Serif Libre"/>
            </a:endParaRPr>
          </a:p>
        </p:txBody>
      </p:sp>
      <p:pic>
        <p:nvPicPr>
          <p:cNvPr id="156" name="Google Shape;156;p24"/>
          <p:cNvPicPr preferRelativeResize="0"/>
          <p:nvPr/>
        </p:nvPicPr>
        <p:blipFill rotWithShape="1">
          <a:blip r:embed="rId3">
            <a:alphaModFix/>
          </a:blip>
          <a:srcRect b="179" l="0" r="0" t="179"/>
          <a:stretch/>
        </p:blipFill>
        <p:spPr>
          <a:xfrm>
            <a:off x="7548375" y="182875"/>
            <a:ext cx="1138428" cy="274320"/>
          </a:xfrm>
          <a:prstGeom prst="rect">
            <a:avLst/>
          </a:prstGeom>
          <a:noFill/>
          <a:ln>
            <a:noFill/>
          </a:ln>
        </p:spPr>
      </p:pic>
      <p:pic>
        <p:nvPicPr>
          <p:cNvPr id="157" name="Google Shape;157;p24"/>
          <p:cNvPicPr preferRelativeResize="0"/>
          <p:nvPr/>
        </p:nvPicPr>
        <p:blipFill>
          <a:blip r:embed="rId4">
            <a:alphaModFix/>
          </a:blip>
          <a:stretch>
            <a:fillRect/>
          </a:stretch>
        </p:blipFill>
        <p:spPr>
          <a:xfrm>
            <a:off x="4385312" y="949525"/>
            <a:ext cx="3979076" cy="4106850"/>
          </a:xfrm>
          <a:prstGeom prst="rect">
            <a:avLst/>
          </a:prstGeom>
          <a:noFill/>
          <a:ln>
            <a:noFill/>
          </a:ln>
        </p:spPr>
      </p:pic>
      <p:sp>
        <p:nvSpPr>
          <p:cNvPr id="158" name="Google Shape;158;p24"/>
          <p:cNvSpPr txBox="1"/>
          <p:nvPr/>
        </p:nvSpPr>
        <p:spPr>
          <a:xfrm>
            <a:off x="549200" y="1833100"/>
            <a:ext cx="38361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Berdasarkan korelasi pada heatmaps maka didapatkan korelasi tertinggi antara:</a:t>
            </a:r>
            <a:endParaRPr/>
          </a:p>
          <a:p>
            <a:pPr indent="-317500" lvl="0" marL="457200" rtl="0" algn="l">
              <a:spcBef>
                <a:spcPts val="0"/>
              </a:spcBef>
              <a:spcAft>
                <a:spcPts val="0"/>
              </a:spcAft>
              <a:buSzPts val="1400"/>
              <a:buAutoNum type="arabicPeriod"/>
            </a:pPr>
            <a:r>
              <a:rPr lang="en"/>
              <a:t>GDP per capita dan healthy life expectancy</a:t>
            </a:r>
            <a:endParaRPr/>
          </a:p>
          <a:p>
            <a:pPr indent="-317500" lvl="0" marL="457200" rtl="0" algn="l">
              <a:spcBef>
                <a:spcPts val="0"/>
              </a:spcBef>
              <a:spcAft>
                <a:spcPts val="0"/>
              </a:spcAft>
              <a:buSzPts val="1400"/>
              <a:buAutoNum type="arabicPeriod"/>
            </a:pPr>
            <a:r>
              <a:rPr lang="en"/>
              <a:t>Score dan GDP per capita</a:t>
            </a:r>
            <a:endParaRPr/>
          </a:p>
          <a:p>
            <a:pPr indent="-317500" lvl="0" marL="457200" rtl="0" algn="l">
              <a:spcBef>
                <a:spcPts val="0"/>
              </a:spcBef>
              <a:spcAft>
                <a:spcPts val="0"/>
              </a:spcAft>
              <a:buSzPts val="1400"/>
              <a:buAutoNum type="arabicPeriod"/>
            </a:pPr>
            <a:r>
              <a:rPr lang="en"/>
              <a:t>Score dan social support</a:t>
            </a:r>
            <a:endParaRPr/>
          </a:p>
          <a:p>
            <a:pPr indent="-317500" lvl="0" marL="457200" rtl="0" algn="l">
              <a:spcBef>
                <a:spcPts val="0"/>
              </a:spcBef>
              <a:spcAft>
                <a:spcPts val="0"/>
              </a:spcAft>
              <a:buSzPts val="1400"/>
              <a:buAutoNum type="arabicPeriod"/>
            </a:pPr>
            <a:r>
              <a:rPr lang="en"/>
              <a:t>Score dan healthy life expectancy</a:t>
            </a:r>
            <a:endParaRPr/>
          </a:p>
          <a:p>
            <a:pPr indent="-317500" lvl="0" marL="457200" rtl="0" algn="l">
              <a:spcBef>
                <a:spcPts val="0"/>
              </a:spcBef>
              <a:spcAft>
                <a:spcPts val="0"/>
              </a:spcAft>
              <a:buSzPts val="1400"/>
              <a:buAutoNum type="arabicPeriod"/>
            </a:pPr>
            <a:r>
              <a:rPr lang="en"/>
              <a:t>GDP per capita dan social support</a:t>
            </a:r>
            <a:endParaRPr/>
          </a:p>
          <a:p>
            <a:pPr indent="-317500" lvl="0" marL="457200" rtl="0" algn="l">
              <a:spcBef>
                <a:spcPts val="0"/>
              </a:spcBef>
              <a:spcAft>
                <a:spcPts val="0"/>
              </a:spcAft>
              <a:buSzPts val="1400"/>
              <a:buAutoNum type="arabicPeriod"/>
            </a:pPr>
            <a:r>
              <a:rPr lang="en"/>
              <a:t>Social support dan healthy life expectancy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4B85">
            <a:alpha val="76540"/>
          </a:srgbClr>
        </a:solidFill>
      </p:bgPr>
    </p:bg>
    <p:spTree>
      <p:nvGrpSpPr>
        <p:cNvPr id="162" name="Shape 162"/>
        <p:cNvGrpSpPr/>
        <p:nvPr/>
      </p:nvGrpSpPr>
      <p:grpSpPr>
        <a:xfrm>
          <a:off x="0" y="0"/>
          <a:ext cx="0" cy="0"/>
          <a:chOff x="0" y="0"/>
          <a:chExt cx="0" cy="0"/>
        </a:xfrm>
      </p:grpSpPr>
      <p:sp>
        <p:nvSpPr>
          <p:cNvPr id="163" name="Google Shape;163;p25"/>
          <p:cNvSpPr/>
          <p:nvPr/>
        </p:nvSpPr>
        <p:spPr>
          <a:xfrm>
            <a:off x="1959600" y="-6537"/>
            <a:ext cx="5224800" cy="5224800"/>
          </a:xfrm>
          <a:prstGeom prst="ellipse">
            <a:avLst/>
          </a:prstGeom>
          <a:solidFill>
            <a:srgbClr val="D0E0E3"/>
          </a:solidFill>
          <a:ln cap="flat" cmpd="sng" w="9525">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5"/>
          <p:cNvSpPr/>
          <p:nvPr/>
        </p:nvSpPr>
        <p:spPr>
          <a:xfrm>
            <a:off x="5311150" y="-74762"/>
            <a:ext cx="670800" cy="670800"/>
          </a:xfrm>
          <a:prstGeom prst="ellipse">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5" name="Google Shape;165;p25"/>
          <p:cNvPicPr preferRelativeResize="0"/>
          <p:nvPr/>
        </p:nvPicPr>
        <p:blipFill rotWithShape="1">
          <a:blip r:embed="rId3">
            <a:alphaModFix/>
          </a:blip>
          <a:srcRect b="0" l="9313" r="11958" t="0"/>
          <a:stretch/>
        </p:blipFill>
        <p:spPr>
          <a:xfrm flipH="1">
            <a:off x="3348448" y="3496477"/>
            <a:ext cx="2428601" cy="219075"/>
          </a:xfrm>
          <a:prstGeom prst="rect">
            <a:avLst/>
          </a:prstGeom>
          <a:noFill/>
          <a:ln>
            <a:noFill/>
          </a:ln>
        </p:spPr>
      </p:pic>
      <p:sp>
        <p:nvSpPr>
          <p:cNvPr id="166" name="Google Shape;166;p25"/>
          <p:cNvSpPr txBox="1"/>
          <p:nvPr/>
        </p:nvSpPr>
        <p:spPr>
          <a:xfrm>
            <a:off x="2319400" y="1618025"/>
            <a:ext cx="4542300" cy="1500600"/>
          </a:xfrm>
          <a:prstGeom prst="rect">
            <a:avLst/>
          </a:prstGeom>
          <a:solidFill>
            <a:srgbClr val="D0E0E3"/>
          </a:solidFill>
          <a:ln>
            <a:noFill/>
          </a:ln>
        </p:spPr>
        <p:txBody>
          <a:bodyPr anchorCtr="0" anchor="ctr" bIns="45700" lIns="91425" spcFirstLastPara="1" rIns="91425" wrap="square" tIns="45700">
            <a:noAutofit/>
          </a:bodyPr>
          <a:lstStyle/>
          <a:p>
            <a:pPr indent="0" lvl="0" marL="0" rtl="0" algn="ctr">
              <a:lnSpc>
                <a:spcPct val="90000"/>
              </a:lnSpc>
              <a:spcBef>
                <a:spcPts val="1000"/>
              </a:spcBef>
              <a:spcAft>
                <a:spcPts val="0"/>
              </a:spcAft>
              <a:buNone/>
            </a:pPr>
            <a:r>
              <a:rPr lang="en" sz="4100">
                <a:solidFill>
                  <a:srgbClr val="FFFFFF"/>
                </a:solidFill>
                <a:latin typeface="Averia Serif Libre"/>
                <a:ea typeface="Averia Serif Libre"/>
                <a:cs typeface="Averia Serif Libre"/>
                <a:sym typeface="Averia Serif Libre"/>
              </a:rPr>
              <a:t>Model Choices</a:t>
            </a:r>
            <a:endParaRPr sz="4100">
              <a:solidFill>
                <a:srgbClr val="FFFFFF"/>
              </a:solidFill>
              <a:latin typeface="Averia Serif Libre"/>
              <a:ea typeface="Averia Serif Libre"/>
              <a:cs typeface="Averia Serif Libre"/>
              <a:sym typeface="Averia Serif Libre"/>
            </a:endParaRPr>
          </a:p>
        </p:txBody>
      </p:sp>
      <p:pic>
        <p:nvPicPr>
          <p:cNvPr id="167" name="Google Shape;167;p25"/>
          <p:cNvPicPr preferRelativeResize="0"/>
          <p:nvPr/>
        </p:nvPicPr>
        <p:blipFill>
          <a:blip r:embed="rId4">
            <a:alphaModFix/>
          </a:blip>
          <a:stretch>
            <a:fillRect/>
          </a:stretch>
        </p:blipFill>
        <p:spPr>
          <a:xfrm>
            <a:off x="7548375" y="182875"/>
            <a:ext cx="1138428" cy="27432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6"/>
          <p:cNvSpPr txBox="1"/>
          <p:nvPr/>
        </p:nvSpPr>
        <p:spPr>
          <a:xfrm>
            <a:off x="457200" y="229325"/>
            <a:ext cx="7295700" cy="1318500"/>
          </a:xfrm>
          <a:prstGeom prst="rect">
            <a:avLst/>
          </a:prstGeom>
          <a:solidFill>
            <a:srgbClr val="FF94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lang="en" sz="3200">
                <a:solidFill>
                  <a:srgbClr val="004987"/>
                </a:solidFill>
                <a:latin typeface="Averia Serif Libre"/>
                <a:ea typeface="Averia Serif Libre"/>
                <a:cs typeface="Averia Serif Libre"/>
                <a:sym typeface="Averia Serif Libre"/>
              </a:rPr>
              <a:t>Model Description + Results</a:t>
            </a:r>
            <a:endParaRPr b="1" i="0" sz="3200" u="none" cap="none" strike="noStrike">
              <a:solidFill>
                <a:srgbClr val="004987"/>
              </a:solidFill>
              <a:latin typeface="Averia Serif Libre"/>
              <a:ea typeface="Averia Serif Libre"/>
              <a:cs typeface="Averia Serif Libre"/>
              <a:sym typeface="Averia Serif Libre"/>
            </a:endParaRPr>
          </a:p>
        </p:txBody>
      </p:sp>
      <p:pic>
        <p:nvPicPr>
          <p:cNvPr id="173" name="Google Shape;173;p26"/>
          <p:cNvPicPr preferRelativeResize="0"/>
          <p:nvPr/>
        </p:nvPicPr>
        <p:blipFill rotWithShape="1">
          <a:blip r:embed="rId3">
            <a:alphaModFix/>
          </a:blip>
          <a:srcRect b="179" l="0" r="0" t="179"/>
          <a:stretch/>
        </p:blipFill>
        <p:spPr>
          <a:xfrm>
            <a:off x="7548375" y="182875"/>
            <a:ext cx="1138428" cy="274320"/>
          </a:xfrm>
          <a:prstGeom prst="rect">
            <a:avLst/>
          </a:prstGeom>
          <a:noFill/>
          <a:ln>
            <a:noFill/>
          </a:ln>
        </p:spPr>
      </p:pic>
      <p:sp>
        <p:nvSpPr>
          <p:cNvPr id="174" name="Google Shape;174;p26"/>
          <p:cNvSpPr txBox="1"/>
          <p:nvPr/>
        </p:nvSpPr>
        <p:spPr>
          <a:xfrm>
            <a:off x="552925" y="1507325"/>
            <a:ext cx="61464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rgbClr val="FF947B"/>
              </a:buClr>
              <a:buSzPts val="1800"/>
              <a:buFont typeface="Averia Serif Libre"/>
              <a:buAutoNum type="arabicPeriod"/>
            </a:pPr>
            <a:r>
              <a:rPr b="1" lang="en" sz="1800">
                <a:solidFill>
                  <a:srgbClr val="FF947B"/>
                </a:solidFill>
                <a:latin typeface="Averia Serif Libre"/>
                <a:ea typeface="Averia Serif Libre"/>
                <a:cs typeface="Averia Serif Libre"/>
                <a:sym typeface="Averia Serif Libre"/>
              </a:rPr>
              <a:t>Model dengan semua variabel</a:t>
            </a:r>
            <a:endParaRPr b="1" sz="1800">
              <a:solidFill>
                <a:srgbClr val="FF947B"/>
              </a:solidFill>
              <a:latin typeface="Averia Serif Libre"/>
              <a:ea typeface="Averia Serif Libre"/>
              <a:cs typeface="Averia Serif Libre"/>
              <a:sym typeface="Averia Serif Libre"/>
            </a:endParaRPr>
          </a:p>
        </p:txBody>
      </p:sp>
      <p:pic>
        <p:nvPicPr>
          <p:cNvPr id="175" name="Google Shape;175;p26"/>
          <p:cNvPicPr preferRelativeResize="0"/>
          <p:nvPr/>
        </p:nvPicPr>
        <p:blipFill>
          <a:blip r:embed="rId4">
            <a:alphaModFix/>
          </a:blip>
          <a:stretch>
            <a:fillRect/>
          </a:stretch>
        </p:blipFill>
        <p:spPr>
          <a:xfrm>
            <a:off x="1103950" y="1901900"/>
            <a:ext cx="3019425" cy="2133600"/>
          </a:xfrm>
          <a:prstGeom prst="rect">
            <a:avLst/>
          </a:prstGeom>
          <a:noFill/>
          <a:ln>
            <a:noFill/>
          </a:ln>
        </p:spPr>
      </p:pic>
      <p:pic>
        <p:nvPicPr>
          <p:cNvPr id="176" name="Google Shape;176;p26"/>
          <p:cNvPicPr preferRelativeResize="0"/>
          <p:nvPr/>
        </p:nvPicPr>
        <p:blipFill>
          <a:blip r:embed="rId5">
            <a:alphaModFix/>
          </a:blip>
          <a:stretch>
            <a:fillRect/>
          </a:stretch>
        </p:blipFill>
        <p:spPr>
          <a:xfrm>
            <a:off x="1421125" y="4126475"/>
            <a:ext cx="2590800" cy="561975"/>
          </a:xfrm>
          <a:prstGeom prst="rect">
            <a:avLst/>
          </a:prstGeom>
          <a:noFill/>
          <a:ln>
            <a:noFill/>
          </a:ln>
        </p:spPr>
      </p:pic>
      <p:pic>
        <p:nvPicPr>
          <p:cNvPr id="177" name="Google Shape;177;p26"/>
          <p:cNvPicPr preferRelativeResize="0"/>
          <p:nvPr/>
        </p:nvPicPr>
        <p:blipFill>
          <a:blip r:embed="rId6">
            <a:alphaModFix/>
          </a:blip>
          <a:stretch>
            <a:fillRect/>
          </a:stretch>
        </p:blipFill>
        <p:spPr>
          <a:xfrm>
            <a:off x="4468650" y="1980950"/>
            <a:ext cx="4418647" cy="2869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7"/>
          <p:cNvSpPr txBox="1"/>
          <p:nvPr/>
        </p:nvSpPr>
        <p:spPr>
          <a:xfrm>
            <a:off x="457200" y="229325"/>
            <a:ext cx="7295700" cy="1318500"/>
          </a:xfrm>
          <a:prstGeom prst="rect">
            <a:avLst/>
          </a:prstGeom>
          <a:solidFill>
            <a:srgbClr val="FF94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lang="en" sz="3200">
                <a:solidFill>
                  <a:srgbClr val="004987"/>
                </a:solidFill>
                <a:latin typeface="Averia Serif Libre"/>
                <a:ea typeface="Averia Serif Libre"/>
                <a:cs typeface="Averia Serif Libre"/>
                <a:sym typeface="Averia Serif Libre"/>
              </a:rPr>
              <a:t>Model Description + Results</a:t>
            </a:r>
            <a:endParaRPr b="1" i="0" sz="3200" u="none" cap="none" strike="noStrike">
              <a:solidFill>
                <a:srgbClr val="004987"/>
              </a:solidFill>
              <a:latin typeface="Averia Serif Libre"/>
              <a:ea typeface="Averia Serif Libre"/>
              <a:cs typeface="Averia Serif Libre"/>
              <a:sym typeface="Averia Serif Libre"/>
            </a:endParaRPr>
          </a:p>
        </p:txBody>
      </p:sp>
      <p:pic>
        <p:nvPicPr>
          <p:cNvPr id="183" name="Google Shape;183;p27"/>
          <p:cNvPicPr preferRelativeResize="0"/>
          <p:nvPr/>
        </p:nvPicPr>
        <p:blipFill rotWithShape="1">
          <a:blip r:embed="rId3">
            <a:alphaModFix/>
          </a:blip>
          <a:srcRect b="179" l="0" r="0" t="179"/>
          <a:stretch/>
        </p:blipFill>
        <p:spPr>
          <a:xfrm>
            <a:off x="7548375" y="182875"/>
            <a:ext cx="1138428" cy="274320"/>
          </a:xfrm>
          <a:prstGeom prst="rect">
            <a:avLst/>
          </a:prstGeom>
          <a:noFill/>
          <a:ln>
            <a:noFill/>
          </a:ln>
        </p:spPr>
      </p:pic>
      <p:sp>
        <p:nvSpPr>
          <p:cNvPr id="184" name="Google Shape;184;p27"/>
          <p:cNvSpPr txBox="1"/>
          <p:nvPr/>
        </p:nvSpPr>
        <p:spPr>
          <a:xfrm>
            <a:off x="552925" y="1507325"/>
            <a:ext cx="6146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FF947B"/>
                </a:solidFill>
                <a:latin typeface="Averia Serif Libre"/>
                <a:ea typeface="Averia Serif Libre"/>
                <a:cs typeface="Averia Serif Libre"/>
                <a:sym typeface="Averia Serif Libre"/>
              </a:rPr>
              <a:t>2.	</a:t>
            </a:r>
            <a:r>
              <a:rPr b="1" lang="en" sz="1800">
                <a:solidFill>
                  <a:srgbClr val="FF947B"/>
                </a:solidFill>
                <a:latin typeface="Averia Serif Libre"/>
                <a:ea typeface="Averia Serif Libre"/>
                <a:cs typeface="Averia Serif Libre"/>
                <a:sym typeface="Averia Serif Libre"/>
              </a:rPr>
              <a:t>Model dengan 2 variabel</a:t>
            </a:r>
            <a:endParaRPr b="1" sz="1800">
              <a:solidFill>
                <a:srgbClr val="FF947B"/>
              </a:solidFill>
              <a:latin typeface="Averia Serif Libre"/>
              <a:ea typeface="Averia Serif Libre"/>
              <a:cs typeface="Averia Serif Libre"/>
              <a:sym typeface="Averia Serif Libre"/>
            </a:endParaRPr>
          </a:p>
        </p:txBody>
      </p:sp>
      <p:pic>
        <p:nvPicPr>
          <p:cNvPr id="185" name="Google Shape;185;p27"/>
          <p:cNvPicPr preferRelativeResize="0"/>
          <p:nvPr/>
        </p:nvPicPr>
        <p:blipFill>
          <a:blip r:embed="rId4">
            <a:alphaModFix/>
          </a:blip>
          <a:stretch>
            <a:fillRect/>
          </a:stretch>
        </p:blipFill>
        <p:spPr>
          <a:xfrm>
            <a:off x="1202828" y="2173800"/>
            <a:ext cx="2292372" cy="940738"/>
          </a:xfrm>
          <a:prstGeom prst="rect">
            <a:avLst/>
          </a:prstGeom>
          <a:noFill/>
          <a:ln>
            <a:noFill/>
          </a:ln>
        </p:spPr>
      </p:pic>
      <p:pic>
        <p:nvPicPr>
          <p:cNvPr id="186" name="Google Shape;186;p27"/>
          <p:cNvPicPr preferRelativeResize="0"/>
          <p:nvPr/>
        </p:nvPicPr>
        <p:blipFill>
          <a:blip r:embed="rId5">
            <a:alphaModFix/>
          </a:blip>
          <a:stretch>
            <a:fillRect/>
          </a:stretch>
        </p:blipFill>
        <p:spPr>
          <a:xfrm>
            <a:off x="1018700" y="3309175"/>
            <a:ext cx="2781300" cy="561975"/>
          </a:xfrm>
          <a:prstGeom prst="rect">
            <a:avLst/>
          </a:prstGeom>
          <a:noFill/>
          <a:ln>
            <a:noFill/>
          </a:ln>
        </p:spPr>
      </p:pic>
      <p:pic>
        <p:nvPicPr>
          <p:cNvPr id="187" name="Google Shape;187;p27"/>
          <p:cNvPicPr preferRelativeResize="0"/>
          <p:nvPr/>
        </p:nvPicPr>
        <p:blipFill>
          <a:blip r:embed="rId6">
            <a:alphaModFix/>
          </a:blip>
          <a:stretch>
            <a:fillRect/>
          </a:stretch>
        </p:blipFill>
        <p:spPr>
          <a:xfrm>
            <a:off x="4268150" y="1799950"/>
            <a:ext cx="4418647" cy="28696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8"/>
          <p:cNvSpPr txBox="1"/>
          <p:nvPr/>
        </p:nvSpPr>
        <p:spPr>
          <a:xfrm>
            <a:off x="457200" y="229325"/>
            <a:ext cx="7295700" cy="1318500"/>
          </a:xfrm>
          <a:prstGeom prst="rect">
            <a:avLst/>
          </a:prstGeom>
          <a:solidFill>
            <a:srgbClr val="FF94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lang="en" sz="3200">
                <a:solidFill>
                  <a:srgbClr val="004987"/>
                </a:solidFill>
                <a:latin typeface="Averia Serif Libre"/>
                <a:ea typeface="Averia Serif Libre"/>
                <a:cs typeface="Averia Serif Libre"/>
                <a:sym typeface="Averia Serif Libre"/>
              </a:rPr>
              <a:t>Model Description + Results</a:t>
            </a:r>
            <a:endParaRPr b="1" i="0" sz="3200" u="none" cap="none" strike="noStrike">
              <a:solidFill>
                <a:srgbClr val="004987"/>
              </a:solidFill>
              <a:latin typeface="Averia Serif Libre"/>
              <a:ea typeface="Averia Serif Libre"/>
              <a:cs typeface="Averia Serif Libre"/>
              <a:sym typeface="Averia Serif Libre"/>
            </a:endParaRPr>
          </a:p>
        </p:txBody>
      </p:sp>
      <p:pic>
        <p:nvPicPr>
          <p:cNvPr id="193" name="Google Shape;193;p28"/>
          <p:cNvPicPr preferRelativeResize="0"/>
          <p:nvPr/>
        </p:nvPicPr>
        <p:blipFill rotWithShape="1">
          <a:blip r:embed="rId3">
            <a:alphaModFix/>
          </a:blip>
          <a:srcRect b="179" l="0" r="0" t="179"/>
          <a:stretch/>
        </p:blipFill>
        <p:spPr>
          <a:xfrm>
            <a:off x="7548375" y="182875"/>
            <a:ext cx="1138428" cy="274320"/>
          </a:xfrm>
          <a:prstGeom prst="rect">
            <a:avLst/>
          </a:prstGeom>
          <a:noFill/>
          <a:ln>
            <a:noFill/>
          </a:ln>
        </p:spPr>
      </p:pic>
      <p:sp>
        <p:nvSpPr>
          <p:cNvPr id="194" name="Google Shape;194;p28"/>
          <p:cNvSpPr txBox="1"/>
          <p:nvPr/>
        </p:nvSpPr>
        <p:spPr>
          <a:xfrm>
            <a:off x="552925" y="1507325"/>
            <a:ext cx="6146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FF947B"/>
                </a:solidFill>
                <a:latin typeface="Averia Serif Libre"/>
                <a:ea typeface="Averia Serif Libre"/>
                <a:cs typeface="Averia Serif Libre"/>
                <a:sym typeface="Averia Serif Libre"/>
              </a:rPr>
              <a:t>3</a:t>
            </a:r>
            <a:r>
              <a:rPr b="1" lang="en" sz="1800">
                <a:solidFill>
                  <a:srgbClr val="FF947B"/>
                </a:solidFill>
                <a:latin typeface="Averia Serif Libre"/>
                <a:ea typeface="Averia Serif Libre"/>
                <a:cs typeface="Averia Serif Libre"/>
                <a:sym typeface="Averia Serif Libre"/>
              </a:rPr>
              <a:t>.	Model dengan 3 variabel</a:t>
            </a:r>
            <a:endParaRPr b="1" sz="1800">
              <a:solidFill>
                <a:srgbClr val="FF947B"/>
              </a:solidFill>
              <a:latin typeface="Averia Serif Libre"/>
              <a:ea typeface="Averia Serif Libre"/>
              <a:cs typeface="Averia Serif Libre"/>
              <a:sym typeface="Averia Serif Libre"/>
            </a:endParaRPr>
          </a:p>
        </p:txBody>
      </p:sp>
      <p:pic>
        <p:nvPicPr>
          <p:cNvPr id="195" name="Google Shape;195;p28"/>
          <p:cNvPicPr preferRelativeResize="0"/>
          <p:nvPr/>
        </p:nvPicPr>
        <p:blipFill>
          <a:blip r:embed="rId4">
            <a:alphaModFix/>
          </a:blip>
          <a:stretch>
            <a:fillRect/>
          </a:stretch>
        </p:blipFill>
        <p:spPr>
          <a:xfrm>
            <a:off x="1142525" y="2057125"/>
            <a:ext cx="2481600" cy="1414750"/>
          </a:xfrm>
          <a:prstGeom prst="rect">
            <a:avLst/>
          </a:prstGeom>
          <a:noFill/>
          <a:ln>
            <a:noFill/>
          </a:ln>
        </p:spPr>
      </p:pic>
      <p:pic>
        <p:nvPicPr>
          <p:cNvPr id="196" name="Google Shape;196;p28"/>
          <p:cNvPicPr preferRelativeResize="0"/>
          <p:nvPr/>
        </p:nvPicPr>
        <p:blipFill>
          <a:blip r:embed="rId5">
            <a:alphaModFix/>
          </a:blip>
          <a:stretch>
            <a:fillRect/>
          </a:stretch>
        </p:blipFill>
        <p:spPr>
          <a:xfrm>
            <a:off x="992675" y="3767350"/>
            <a:ext cx="2781300" cy="657225"/>
          </a:xfrm>
          <a:prstGeom prst="rect">
            <a:avLst/>
          </a:prstGeom>
          <a:noFill/>
          <a:ln>
            <a:noFill/>
          </a:ln>
        </p:spPr>
      </p:pic>
      <p:pic>
        <p:nvPicPr>
          <p:cNvPr id="197" name="Google Shape;197;p28"/>
          <p:cNvPicPr preferRelativeResize="0"/>
          <p:nvPr/>
        </p:nvPicPr>
        <p:blipFill>
          <a:blip r:embed="rId6">
            <a:alphaModFix/>
          </a:blip>
          <a:stretch>
            <a:fillRect/>
          </a:stretch>
        </p:blipFill>
        <p:spPr>
          <a:xfrm>
            <a:off x="4268150" y="1812800"/>
            <a:ext cx="4418647" cy="28696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4B85">
            <a:alpha val="76540"/>
          </a:srgbClr>
        </a:solidFill>
      </p:bgPr>
    </p:bg>
    <p:spTree>
      <p:nvGrpSpPr>
        <p:cNvPr id="201" name="Shape 201"/>
        <p:cNvGrpSpPr/>
        <p:nvPr/>
      </p:nvGrpSpPr>
      <p:grpSpPr>
        <a:xfrm>
          <a:off x="0" y="0"/>
          <a:ext cx="0" cy="0"/>
          <a:chOff x="0" y="0"/>
          <a:chExt cx="0" cy="0"/>
        </a:xfrm>
      </p:grpSpPr>
      <p:sp>
        <p:nvSpPr>
          <p:cNvPr id="202" name="Google Shape;202;p29"/>
          <p:cNvSpPr/>
          <p:nvPr/>
        </p:nvSpPr>
        <p:spPr>
          <a:xfrm>
            <a:off x="1959600" y="-6537"/>
            <a:ext cx="5224800" cy="5224800"/>
          </a:xfrm>
          <a:prstGeom prst="ellipse">
            <a:avLst/>
          </a:prstGeom>
          <a:solidFill>
            <a:srgbClr val="D0E0E3"/>
          </a:solidFill>
          <a:ln cap="flat" cmpd="sng" w="9525">
            <a:solidFill>
              <a:srgbClr val="E9F0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9"/>
          <p:cNvSpPr/>
          <p:nvPr/>
        </p:nvSpPr>
        <p:spPr>
          <a:xfrm>
            <a:off x="5311150" y="-74762"/>
            <a:ext cx="670800" cy="670800"/>
          </a:xfrm>
          <a:prstGeom prst="ellipse">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4" name="Google Shape;204;p29"/>
          <p:cNvPicPr preferRelativeResize="0"/>
          <p:nvPr/>
        </p:nvPicPr>
        <p:blipFill rotWithShape="1">
          <a:blip r:embed="rId3">
            <a:alphaModFix/>
          </a:blip>
          <a:srcRect b="0" l="9313" r="11958" t="0"/>
          <a:stretch/>
        </p:blipFill>
        <p:spPr>
          <a:xfrm flipH="1">
            <a:off x="3348448" y="3496477"/>
            <a:ext cx="2428601" cy="219075"/>
          </a:xfrm>
          <a:prstGeom prst="rect">
            <a:avLst/>
          </a:prstGeom>
          <a:noFill/>
          <a:ln>
            <a:noFill/>
          </a:ln>
        </p:spPr>
      </p:pic>
      <p:sp>
        <p:nvSpPr>
          <p:cNvPr id="205" name="Google Shape;205;p29"/>
          <p:cNvSpPr txBox="1"/>
          <p:nvPr/>
        </p:nvSpPr>
        <p:spPr>
          <a:xfrm>
            <a:off x="2319400" y="1618025"/>
            <a:ext cx="4542300" cy="15006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1000"/>
              </a:spcBef>
              <a:spcAft>
                <a:spcPts val="0"/>
              </a:spcAft>
              <a:buNone/>
            </a:pPr>
            <a:r>
              <a:rPr lang="en" sz="4100">
                <a:solidFill>
                  <a:srgbClr val="FFFFFF"/>
                </a:solidFill>
                <a:latin typeface="Averia Serif Libre"/>
                <a:ea typeface="Averia Serif Libre"/>
                <a:cs typeface="Averia Serif Libre"/>
                <a:sym typeface="Averia Serif Libre"/>
              </a:rPr>
              <a:t>Best Model and Recommendation</a:t>
            </a:r>
            <a:endParaRPr sz="4100">
              <a:solidFill>
                <a:srgbClr val="FFFFFF"/>
              </a:solidFill>
              <a:latin typeface="Averia Serif Libre"/>
              <a:ea typeface="Averia Serif Libre"/>
              <a:cs typeface="Averia Serif Libre"/>
              <a:sym typeface="Averia Serif Libre"/>
            </a:endParaRPr>
          </a:p>
        </p:txBody>
      </p:sp>
      <p:pic>
        <p:nvPicPr>
          <p:cNvPr id="206" name="Google Shape;206;p29"/>
          <p:cNvPicPr preferRelativeResize="0"/>
          <p:nvPr/>
        </p:nvPicPr>
        <p:blipFill>
          <a:blip r:embed="rId4">
            <a:alphaModFix/>
          </a:blip>
          <a:stretch>
            <a:fillRect/>
          </a:stretch>
        </p:blipFill>
        <p:spPr>
          <a:xfrm>
            <a:off x="7548375" y="182875"/>
            <a:ext cx="1138428" cy="27432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0"/>
          <p:cNvSpPr txBox="1"/>
          <p:nvPr/>
        </p:nvSpPr>
        <p:spPr>
          <a:xfrm>
            <a:off x="457200" y="229325"/>
            <a:ext cx="7295700" cy="1318500"/>
          </a:xfrm>
          <a:prstGeom prst="rect">
            <a:avLst/>
          </a:prstGeom>
          <a:solidFill>
            <a:srgbClr val="FF94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lang="en" sz="3200">
                <a:solidFill>
                  <a:srgbClr val="004987"/>
                </a:solidFill>
                <a:latin typeface="Averia Serif Libre"/>
                <a:ea typeface="Averia Serif Libre"/>
                <a:cs typeface="Averia Serif Libre"/>
                <a:sym typeface="Averia Serif Libre"/>
              </a:rPr>
              <a:t>Best Model + Insight</a:t>
            </a:r>
            <a:endParaRPr b="1" i="0" sz="3200" u="none" cap="none" strike="noStrike">
              <a:solidFill>
                <a:srgbClr val="004987"/>
              </a:solidFill>
              <a:latin typeface="Averia Serif Libre"/>
              <a:ea typeface="Averia Serif Libre"/>
              <a:cs typeface="Averia Serif Libre"/>
              <a:sym typeface="Averia Serif Libre"/>
            </a:endParaRPr>
          </a:p>
        </p:txBody>
      </p:sp>
      <p:pic>
        <p:nvPicPr>
          <p:cNvPr id="212" name="Google Shape;212;p30"/>
          <p:cNvPicPr preferRelativeResize="0"/>
          <p:nvPr/>
        </p:nvPicPr>
        <p:blipFill rotWithShape="1">
          <a:blip r:embed="rId3">
            <a:alphaModFix/>
          </a:blip>
          <a:srcRect b="179" l="0" r="0" t="179"/>
          <a:stretch/>
        </p:blipFill>
        <p:spPr>
          <a:xfrm>
            <a:off x="7548375" y="182875"/>
            <a:ext cx="1138428" cy="274320"/>
          </a:xfrm>
          <a:prstGeom prst="rect">
            <a:avLst/>
          </a:prstGeom>
          <a:noFill/>
          <a:ln>
            <a:noFill/>
          </a:ln>
        </p:spPr>
      </p:pic>
      <p:graphicFrame>
        <p:nvGraphicFramePr>
          <p:cNvPr id="213" name="Google Shape;213;p30"/>
          <p:cNvGraphicFramePr/>
          <p:nvPr/>
        </p:nvGraphicFramePr>
        <p:xfrm>
          <a:off x="952500" y="1850700"/>
          <a:ext cx="3000000" cy="3000000"/>
        </p:xfrm>
        <a:graphic>
          <a:graphicData uri="http://schemas.openxmlformats.org/drawingml/2006/table">
            <a:tbl>
              <a:tblPr>
                <a:noFill/>
                <a:tableStyleId>{BC3D8A49-882E-4C6F-A068-603DD20C760C}</a:tableStyleId>
              </a:tblPr>
              <a:tblGrid>
                <a:gridCol w="1809750"/>
                <a:gridCol w="1809750"/>
                <a:gridCol w="1809750"/>
                <a:gridCol w="1809750"/>
              </a:tblGrid>
              <a:tr h="381000">
                <a:tc rowSpan="2">
                  <a:txBody>
                    <a:bodyPr/>
                    <a:lstStyle/>
                    <a:p>
                      <a:pPr indent="0" lvl="0" marL="0" rtl="0" algn="l">
                        <a:spcBef>
                          <a:spcPts val="0"/>
                        </a:spcBef>
                        <a:spcAft>
                          <a:spcPts val="0"/>
                        </a:spcAft>
                        <a:buNone/>
                      </a:pPr>
                      <a:r>
                        <a:t/>
                      </a:r>
                      <a:endParaRPr>
                        <a:latin typeface="Averia Serif Libre"/>
                        <a:ea typeface="Averia Serif Libre"/>
                        <a:cs typeface="Averia Serif Libre"/>
                        <a:sym typeface="Averia Serif Libre"/>
                      </a:endParaRPr>
                    </a:p>
                  </a:txBody>
                  <a:tcPr marT="91425" marB="91425" marR="91425" marL="91425" anchor="ctr"/>
                </a:tc>
                <a:tc gridSpan="3">
                  <a:txBody>
                    <a:bodyPr/>
                    <a:lstStyle/>
                    <a:p>
                      <a:pPr indent="0" lvl="0" marL="0" rtl="0" algn="ctr">
                        <a:spcBef>
                          <a:spcPts val="0"/>
                        </a:spcBef>
                        <a:spcAft>
                          <a:spcPts val="0"/>
                        </a:spcAft>
                        <a:buNone/>
                      </a:pPr>
                      <a:r>
                        <a:rPr lang="en">
                          <a:latin typeface="Averia Serif Libre"/>
                          <a:ea typeface="Averia Serif Libre"/>
                          <a:cs typeface="Averia Serif Libre"/>
                          <a:sym typeface="Averia Serif Libre"/>
                        </a:rPr>
                        <a:t>Model</a:t>
                      </a:r>
                      <a:endParaRPr>
                        <a:latin typeface="Averia Serif Libre"/>
                        <a:ea typeface="Averia Serif Libre"/>
                        <a:cs typeface="Averia Serif Libre"/>
                        <a:sym typeface="Averia Serif Libre"/>
                      </a:endParaRPr>
                    </a:p>
                  </a:txBody>
                  <a:tcPr marT="91425" marB="91425" marR="91425" marL="91425" anchor="ctr"/>
                </a:tc>
                <a:tc hMerge="1"/>
                <a:tc hMerge="1"/>
              </a:tr>
              <a:tr h="381000">
                <a:tc vMerge="1"/>
                <a:tc>
                  <a:txBody>
                    <a:bodyPr/>
                    <a:lstStyle/>
                    <a:p>
                      <a:pPr indent="0" lvl="0" marL="0" rtl="0" algn="ctr">
                        <a:spcBef>
                          <a:spcPts val="0"/>
                        </a:spcBef>
                        <a:spcAft>
                          <a:spcPts val="0"/>
                        </a:spcAft>
                        <a:buNone/>
                      </a:pPr>
                      <a:r>
                        <a:rPr lang="en">
                          <a:highlight>
                            <a:srgbClr val="F4CCCC"/>
                          </a:highlight>
                          <a:latin typeface="Averia Serif Libre"/>
                          <a:ea typeface="Averia Serif Libre"/>
                          <a:cs typeface="Averia Serif Libre"/>
                          <a:sym typeface="Averia Serif Libre"/>
                        </a:rPr>
                        <a:t>Semua variabel</a:t>
                      </a:r>
                      <a:endParaRPr>
                        <a:highlight>
                          <a:srgbClr val="F4CCCC"/>
                        </a:highlight>
                        <a:latin typeface="Averia Serif Libre"/>
                        <a:ea typeface="Averia Serif Libre"/>
                        <a:cs typeface="Averia Serif Libre"/>
                        <a:sym typeface="Averia Serif Libre"/>
                      </a:endParaRPr>
                    </a:p>
                  </a:txBody>
                  <a:tcPr marT="91425" marB="91425" marR="91425" marL="91425" anchor="ctr"/>
                </a:tc>
                <a:tc>
                  <a:txBody>
                    <a:bodyPr/>
                    <a:lstStyle/>
                    <a:p>
                      <a:pPr indent="0" lvl="0" marL="0" rtl="0" algn="ctr">
                        <a:spcBef>
                          <a:spcPts val="0"/>
                        </a:spcBef>
                        <a:spcAft>
                          <a:spcPts val="0"/>
                        </a:spcAft>
                        <a:buNone/>
                      </a:pPr>
                      <a:r>
                        <a:rPr lang="en">
                          <a:latin typeface="Averia Serif Libre"/>
                          <a:ea typeface="Averia Serif Libre"/>
                          <a:cs typeface="Averia Serif Libre"/>
                          <a:sym typeface="Averia Serif Libre"/>
                        </a:rPr>
                        <a:t>2 variabel</a:t>
                      </a:r>
                      <a:endParaRPr>
                        <a:latin typeface="Averia Serif Libre"/>
                        <a:ea typeface="Averia Serif Libre"/>
                        <a:cs typeface="Averia Serif Libre"/>
                        <a:sym typeface="Averia Serif Libre"/>
                      </a:endParaRPr>
                    </a:p>
                  </a:txBody>
                  <a:tcPr marT="91425" marB="91425" marR="91425" marL="91425" anchor="ctr"/>
                </a:tc>
                <a:tc>
                  <a:txBody>
                    <a:bodyPr/>
                    <a:lstStyle/>
                    <a:p>
                      <a:pPr indent="0" lvl="0" marL="0" rtl="0" algn="ctr">
                        <a:spcBef>
                          <a:spcPts val="0"/>
                        </a:spcBef>
                        <a:spcAft>
                          <a:spcPts val="0"/>
                        </a:spcAft>
                        <a:buNone/>
                      </a:pPr>
                      <a:r>
                        <a:rPr lang="en">
                          <a:latin typeface="Averia Serif Libre"/>
                          <a:ea typeface="Averia Serif Libre"/>
                          <a:cs typeface="Averia Serif Libre"/>
                          <a:sym typeface="Averia Serif Libre"/>
                        </a:rPr>
                        <a:t>3 variabel</a:t>
                      </a:r>
                      <a:endParaRPr>
                        <a:latin typeface="Averia Serif Libre"/>
                        <a:ea typeface="Averia Serif Libre"/>
                        <a:cs typeface="Averia Serif Libre"/>
                        <a:sym typeface="Averia Serif Libre"/>
                      </a:endParaRPr>
                    </a:p>
                  </a:txBody>
                  <a:tcPr marT="91425" marB="91425" marR="91425" marL="91425" anchor="ctr"/>
                </a:tc>
              </a:tr>
              <a:tr h="381000">
                <a:tc>
                  <a:txBody>
                    <a:bodyPr/>
                    <a:lstStyle/>
                    <a:p>
                      <a:pPr indent="0" lvl="0" marL="0" rtl="0" algn="l">
                        <a:spcBef>
                          <a:spcPts val="0"/>
                        </a:spcBef>
                        <a:spcAft>
                          <a:spcPts val="0"/>
                        </a:spcAft>
                        <a:buNone/>
                      </a:pPr>
                      <a:r>
                        <a:rPr lang="en">
                          <a:latin typeface="Averia Serif Libre"/>
                          <a:ea typeface="Averia Serif Libre"/>
                          <a:cs typeface="Averia Serif Libre"/>
                          <a:sym typeface="Averia Serif Libre"/>
                        </a:rPr>
                        <a:t>MAE</a:t>
                      </a:r>
                      <a:endParaRPr>
                        <a:latin typeface="Averia Serif Libre"/>
                        <a:ea typeface="Averia Serif Libre"/>
                        <a:cs typeface="Averia Serif Libre"/>
                        <a:sym typeface="Averia Serif Libre"/>
                      </a:endParaRPr>
                    </a:p>
                  </a:txBody>
                  <a:tcPr marT="91425" marB="91425" marR="91425" marL="91425" anchor="ctr"/>
                </a:tc>
                <a:tc>
                  <a:txBody>
                    <a:bodyPr/>
                    <a:lstStyle/>
                    <a:p>
                      <a:pPr indent="0" lvl="0" marL="0" rtl="0" algn="ctr">
                        <a:spcBef>
                          <a:spcPts val="0"/>
                        </a:spcBef>
                        <a:spcAft>
                          <a:spcPts val="0"/>
                        </a:spcAft>
                        <a:buNone/>
                      </a:pPr>
                      <a:r>
                        <a:rPr lang="en">
                          <a:highlight>
                            <a:srgbClr val="F4CCCC"/>
                          </a:highlight>
                          <a:latin typeface="Averia Serif Libre"/>
                          <a:ea typeface="Averia Serif Libre"/>
                          <a:cs typeface="Averia Serif Libre"/>
                          <a:sym typeface="Averia Serif Libre"/>
                        </a:rPr>
                        <a:t>0.424</a:t>
                      </a:r>
                      <a:endParaRPr>
                        <a:highlight>
                          <a:srgbClr val="F4CCCC"/>
                        </a:highlight>
                        <a:latin typeface="Averia Serif Libre"/>
                        <a:ea typeface="Averia Serif Libre"/>
                        <a:cs typeface="Averia Serif Libre"/>
                        <a:sym typeface="Averia Serif Libre"/>
                      </a:endParaRPr>
                    </a:p>
                  </a:txBody>
                  <a:tcPr marT="91425" marB="91425" marR="91425" marL="91425" anchor="ctr"/>
                </a:tc>
                <a:tc>
                  <a:txBody>
                    <a:bodyPr/>
                    <a:lstStyle/>
                    <a:p>
                      <a:pPr indent="0" lvl="0" marL="0" rtl="0" algn="ctr">
                        <a:spcBef>
                          <a:spcPts val="0"/>
                        </a:spcBef>
                        <a:spcAft>
                          <a:spcPts val="0"/>
                        </a:spcAft>
                        <a:buNone/>
                      </a:pPr>
                      <a:r>
                        <a:rPr lang="en">
                          <a:latin typeface="Averia Serif Libre"/>
                          <a:ea typeface="Averia Serif Libre"/>
                          <a:cs typeface="Averia Serif Libre"/>
                          <a:sym typeface="Averia Serif Libre"/>
                        </a:rPr>
                        <a:t>0.564</a:t>
                      </a:r>
                      <a:endParaRPr>
                        <a:latin typeface="Averia Serif Libre"/>
                        <a:ea typeface="Averia Serif Libre"/>
                        <a:cs typeface="Averia Serif Libre"/>
                        <a:sym typeface="Averia Serif Libre"/>
                      </a:endParaRPr>
                    </a:p>
                  </a:txBody>
                  <a:tcPr marT="91425" marB="91425" marR="91425" marL="91425" anchor="ctr"/>
                </a:tc>
                <a:tc>
                  <a:txBody>
                    <a:bodyPr/>
                    <a:lstStyle/>
                    <a:p>
                      <a:pPr indent="0" lvl="0" marL="0" rtl="0" algn="ctr">
                        <a:spcBef>
                          <a:spcPts val="0"/>
                        </a:spcBef>
                        <a:spcAft>
                          <a:spcPts val="0"/>
                        </a:spcAft>
                        <a:buNone/>
                      </a:pPr>
                      <a:r>
                        <a:rPr lang="en">
                          <a:latin typeface="Averia Serif Libre"/>
                          <a:ea typeface="Averia Serif Libre"/>
                          <a:cs typeface="Averia Serif Libre"/>
                          <a:sym typeface="Averia Serif Libre"/>
                        </a:rPr>
                        <a:t>0.472</a:t>
                      </a:r>
                      <a:endParaRPr>
                        <a:latin typeface="Averia Serif Libre"/>
                        <a:ea typeface="Averia Serif Libre"/>
                        <a:cs typeface="Averia Serif Libre"/>
                        <a:sym typeface="Averia Serif Libre"/>
                      </a:endParaRPr>
                    </a:p>
                  </a:txBody>
                  <a:tcPr marT="91425" marB="91425" marR="91425" marL="91425" anchor="ctr"/>
                </a:tc>
              </a:tr>
              <a:tr h="381000">
                <a:tc>
                  <a:txBody>
                    <a:bodyPr/>
                    <a:lstStyle/>
                    <a:p>
                      <a:pPr indent="0" lvl="0" marL="0" rtl="0" algn="l">
                        <a:spcBef>
                          <a:spcPts val="0"/>
                        </a:spcBef>
                        <a:spcAft>
                          <a:spcPts val="0"/>
                        </a:spcAft>
                        <a:buNone/>
                      </a:pPr>
                      <a:r>
                        <a:rPr lang="en">
                          <a:latin typeface="Averia Serif Libre"/>
                          <a:ea typeface="Averia Serif Libre"/>
                          <a:cs typeface="Averia Serif Libre"/>
                          <a:sym typeface="Averia Serif Libre"/>
                        </a:rPr>
                        <a:t>MSE</a:t>
                      </a:r>
                      <a:endParaRPr>
                        <a:latin typeface="Averia Serif Libre"/>
                        <a:ea typeface="Averia Serif Libre"/>
                        <a:cs typeface="Averia Serif Libre"/>
                        <a:sym typeface="Averia Serif Libre"/>
                      </a:endParaRPr>
                    </a:p>
                  </a:txBody>
                  <a:tcPr marT="91425" marB="91425" marR="91425" marL="91425" anchor="ctr"/>
                </a:tc>
                <a:tc>
                  <a:txBody>
                    <a:bodyPr/>
                    <a:lstStyle/>
                    <a:p>
                      <a:pPr indent="0" lvl="0" marL="0" rtl="0" algn="ctr">
                        <a:spcBef>
                          <a:spcPts val="0"/>
                        </a:spcBef>
                        <a:spcAft>
                          <a:spcPts val="0"/>
                        </a:spcAft>
                        <a:buNone/>
                      </a:pPr>
                      <a:r>
                        <a:rPr lang="en">
                          <a:highlight>
                            <a:srgbClr val="F4CCCC"/>
                          </a:highlight>
                          <a:latin typeface="Averia Serif Libre"/>
                          <a:ea typeface="Averia Serif Libre"/>
                          <a:cs typeface="Averia Serif Libre"/>
                          <a:sym typeface="Averia Serif Libre"/>
                        </a:rPr>
                        <a:t>0.29</a:t>
                      </a:r>
                      <a:endParaRPr>
                        <a:highlight>
                          <a:srgbClr val="F4CCCC"/>
                        </a:highlight>
                        <a:latin typeface="Averia Serif Libre"/>
                        <a:ea typeface="Averia Serif Libre"/>
                        <a:cs typeface="Averia Serif Libre"/>
                        <a:sym typeface="Averia Serif Libre"/>
                      </a:endParaRPr>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Averia Serif Libre"/>
                          <a:ea typeface="Averia Serif Libre"/>
                          <a:cs typeface="Averia Serif Libre"/>
                          <a:sym typeface="Averia Serif Libre"/>
                        </a:rPr>
                        <a:t>0.465</a:t>
                      </a:r>
                      <a:endParaRPr>
                        <a:latin typeface="Averia Serif Libre"/>
                        <a:ea typeface="Averia Serif Libre"/>
                        <a:cs typeface="Averia Serif Libre"/>
                        <a:sym typeface="Averia Serif Libre"/>
                      </a:endParaRPr>
                    </a:p>
                  </a:txBody>
                  <a:tcPr marT="91425" marB="91425" marR="91425" marL="91425" anchor="ctr"/>
                </a:tc>
                <a:tc>
                  <a:txBody>
                    <a:bodyPr/>
                    <a:lstStyle/>
                    <a:p>
                      <a:pPr indent="0" lvl="0" marL="0" rtl="0" algn="ctr">
                        <a:spcBef>
                          <a:spcPts val="0"/>
                        </a:spcBef>
                        <a:spcAft>
                          <a:spcPts val="0"/>
                        </a:spcAft>
                        <a:buNone/>
                      </a:pPr>
                      <a:r>
                        <a:rPr lang="en">
                          <a:latin typeface="Averia Serif Libre"/>
                          <a:ea typeface="Averia Serif Libre"/>
                          <a:cs typeface="Averia Serif Libre"/>
                          <a:sym typeface="Averia Serif Libre"/>
                        </a:rPr>
                        <a:t>0.341</a:t>
                      </a:r>
                      <a:endParaRPr>
                        <a:latin typeface="Averia Serif Libre"/>
                        <a:ea typeface="Averia Serif Libre"/>
                        <a:cs typeface="Averia Serif Libre"/>
                        <a:sym typeface="Averia Serif Libre"/>
                      </a:endParaRPr>
                    </a:p>
                  </a:txBody>
                  <a:tcPr marT="91425" marB="91425" marR="91425" marL="91425" anchor="ctr"/>
                </a:tc>
              </a:tr>
              <a:tr h="381000">
                <a:tc>
                  <a:txBody>
                    <a:bodyPr/>
                    <a:lstStyle/>
                    <a:p>
                      <a:pPr indent="0" lvl="0" marL="0" rtl="0" algn="l">
                        <a:spcBef>
                          <a:spcPts val="0"/>
                        </a:spcBef>
                        <a:spcAft>
                          <a:spcPts val="0"/>
                        </a:spcAft>
                        <a:buNone/>
                      </a:pPr>
                      <a:r>
                        <a:rPr lang="en">
                          <a:latin typeface="Averia Serif Libre"/>
                          <a:ea typeface="Averia Serif Libre"/>
                          <a:cs typeface="Averia Serif Libre"/>
                          <a:sym typeface="Averia Serif Libre"/>
                        </a:rPr>
                        <a:t>RMSE</a:t>
                      </a:r>
                      <a:endParaRPr>
                        <a:latin typeface="Averia Serif Libre"/>
                        <a:ea typeface="Averia Serif Libre"/>
                        <a:cs typeface="Averia Serif Libre"/>
                        <a:sym typeface="Averia Serif Libre"/>
                      </a:endParaRPr>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en">
                          <a:solidFill>
                            <a:schemeClr val="dk1"/>
                          </a:solidFill>
                          <a:highlight>
                            <a:srgbClr val="F4CCCC"/>
                          </a:highlight>
                          <a:latin typeface="Averia Serif Libre"/>
                          <a:ea typeface="Averia Serif Libre"/>
                          <a:cs typeface="Averia Serif Libre"/>
                          <a:sym typeface="Averia Serif Libre"/>
                        </a:rPr>
                        <a:t>0.538</a:t>
                      </a:r>
                      <a:endParaRPr>
                        <a:highlight>
                          <a:srgbClr val="F4CCCC"/>
                        </a:highlight>
                        <a:latin typeface="Averia Serif Libre"/>
                        <a:ea typeface="Averia Serif Libre"/>
                        <a:cs typeface="Averia Serif Libre"/>
                        <a:sym typeface="Averia Serif Libre"/>
                      </a:endParaRPr>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Averia Serif Libre"/>
                          <a:ea typeface="Averia Serif Libre"/>
                          <a:cs typeface="Averia Serif Libre"/>
                          <a:sym typeface="Averia Serif Libre"/>
                        </a:rPr>
                        <a:t>0.682</a:t>
                      </a:r>
                      <a:endParaRPr>
                        <a:latin typeface="Averia Serif Libre"/>
                        <a:ea typeface="Averia Serif Libre"/>
                        <a:cs typeface="Averia Serif Libre"/>
                        <a:sym typeface="Averia Serif Libre"/>
                      </a:endParaRPr>
                    </a:p>
                  </a:txBody>
                  <a:tcPr marT="91425" marB="91425" marR="91425" marL="91425" anchor="ctr"/>
                </a:tc>
                <a:tc>
                  <a:txBody>
                    <a:bodyPr/>
                    <a:lstStyle/>
                    <a:p>
                      <a:pPr indent="0" lvl="0" marL="0" rtl="0" algn="ctr">
                        <a:spcBef>
                          <a:spcPts val="0"/>
                        </a:spcBef>
                        <a:spcAft>
                          <a:spcPts val="0"/>
                        </a:spcAft>
                        <a:buNone/>
                      </a:pPr>
                      <a:r>
                        <a:rPr lang="en">
                          <a:latin typeface="Averia Serif Libre"/>
                          <a:ea typeface="Averia Serif Libre"/>
                          <a:cs typeface="Averia Serif Libre"/>
                          <a:sym typeface="Averia Serif Libre"/>
                        </a:rPr>
                        <a:t>0.584</a:t>
                      </a:r>
                      <a:endParaRPr>
                        <a:latin typeface="Averia Serif Libre"/>
                        <a:ea typeface="Averia Serif Libre"/>
                        <a:cs typeface="Averia Serif Libre"/>
                        <a:sym typeface="Averia Serif Libre"/>
                      </a:endParaRPr>
                    </a:p>
                  </a:txBody>
                  <a:tcPr marT="91425" marB="91425" marR="91425" marL="91425" anchor="ctr"/>
                </a:tc>
              </a:tr>
              <a:tr h="381000">
                <a:tc>
                  <a:txBody>
                    <a:bodyPr/>
                    <a:lstStyle/>
                    <a:p>
                      <a:pPr indent="0" lvl="0" marL="0" rtl="0" algn="l">
                        <a:spcBef>
                          <a:spcPts val="0"/>
                        </a:spcBef>
                        <a:spcAft>
                          <a:spcPts val="0"/>
                        </a:spcAft>
                        <a:buNone/>
                      </a:pPr>
                      <a:r>
                        <a:rPr lang="en">
                          <a:latin typeface="Averia Serif Libre"/>
                          <a:ea typeface="Averia Serif Libre"/>
                          <a:cs typeface="Averia Serif Libre"/>
                          <a:sym typeface="Averia Serif Libre"/>
                        </a:rPr>
                        <a:t>R^2 adjusted</a:t>
                      </a:r>
                      <a:endParaRPr>
                        <a:latin typeface="Averia Serif Libre"/>
                        <a:ea typeface="Averia Serif Libre"/>
                        <a:cs typeface="Averia Serif Libre"/>
                        <a:sym typeface="Averia Serif Libre"/>
                      </a:endParaRPr>
                    </a:p>
                  </a:txBody>
                  <a:tcPr marT="91425" marB="91425" marR="91425" marL="91425" anchor="ctr"/>
                </a:tc>
                <a:tc>
                  <a:txBody>
                    <a:bodyPr/>
                    <a:lstStyle/>
                    <a:p>
                      <a:pPr indent="0" lvl="0" marL="0" rtl="0" algn="ctr">
                        <a:spcBef>
                          <a:spcPts val="0"/>
                        </a:spcBef>
                        <a:spcAft>
                          <a:spcPts val="0"/>
                        </a:spcAft>
                        <a:buNone/>
                      </a:pPr>
                      <a:r>
                        <a:rPr lang="en">
                          <a:highlight>
                            <a:srgbClr val="F4CCCC"/>
                          </a:highlight>
                          <a:latin typeface="Averia Serif Libre"/>
                          <a:ea typeface="Averia Serif Libre"/>
                          <a:cs typeface="Averia Serif Libre"/>
                          <a:sym typeface="Averia Serif Libre"/>
                        </a:rPr>
                        <a:t>0.779</a:t>
                      </a:r>
                      <a:endParaRPr>
                        <a:highlight>
                          <a:srgbClr val="F4CCCC"/>
                        </a:highlight>
                        <a:latin typeface="Averia Serif Libre"/>
                        <a:ea typeface="Averia Serif Libre"/>
                        <a:cs typeface="Averia Serif Libre"/>
                        <a:sym typeface="Averia Serif Libre"/>
                      </a:endParaRPr>
                    </a:p>
                  </a:txBody>
                  <a:tcPr marT="91425" marB="91425" marR="91425" marL="91425" anchor="ctr"/>
                </a:tc>
                <a:tc>
                  <a:txBody>
                    <a:bodyPr/>
                    <a:lstStyle/>
                    <a:p>
                      <a:pPr indent="0" lvl="0" marL="0" rtl="0" algn="ctr">
                        <a:spcBef>
                          <a:spcPts val="0"/>
                        </a:spcBef>
                        <a:spcAft>
                          <a:spcPts val="0"/>
                        </a:spcAft>
                        <a:buNone/>
                      </a:pPr>
                      <a:r>
                        <a:rPr lang="en">
                          <a:latin typeface="Averia Serif Libre"/>
                          <a:ea typeface="Averia Serif Libre"/>
                          <a:cs typeface="Averia Serif Libre"/>
                          <a:sym typeface="Averia Serif Libre"/>
                        </a:rPr>
                        <a:t>0.709</a:t>
                      </a:r>
                      <a:endParaRPr>
                        <a:latin typeface="Averia Serif Libre"/>
                        <a:ea typeface="Averia Serif Libre"/>
                        <a:cs typeface="Averia Serif Libre"/>
                        <a:sym typeface="Averia Serif Libre"/>
                      </a:endParaRPr>
                    </a:p>
                  </a:txBody>
                  <a:tcPr marT="91425" marB="91425" marR="91425" marL="91425" anchor="ctr"/>
                </a:tc>
                <a:tc>
                  <a:txBody>
                    <a:bodyPr/>
                    <a:lstStyle/>
                    <a:p>
                      <a:pPr indent="0" lvl="0" marL="0" rtl="0" algn="ctr">
                        <a:spcBef>
                          <a:spcPts val="0"/>
                        </a:spcBef>
                        <a:spcAft>
                          <a:spcPts val="0"/>
                        </a:spcAft>
                        <a:buNone/>
                      </a:pPr>
                      <a:r>
                        <a:rPr lang="en">
                          <a:latin typeface="Averia Serif Libre"/>
                          <a:ea typeface="Averia Serif Libre"/>
                          <a:cs typeface="Averia Serif Libre"/>
                          <a:sym typeface="Averia Serif Libre"/>
                        </a:rPr>
                        <a:t>0.726</a:t>
                      </a:r>
                      <a:endParaRPr>
                        <a:latin typeface="Averia Serif Libre"/>
                        <a:ea typeface="Averia Serif Libre"/>
                        <a:cs typeface="Averia Serif Libre"/>
                        <a:sym typeface="Averia Serif Libre"/>
                      </a:endParaRPr>
                    </a:p>
                  </a:txBody>
                  <a:tcPr marT="91425" marB="91425" marR="91425" marL="91425" anchor="ct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1"/>
          <p:cNvSpPr txBox="1"/>
          <p:nvPr/>
        </p:nvSpPr>
        <p:spPr>
          <a:xfrm>
            <a:off x="457200" y="229325"/>
            <a:ext cx="7295700" cy="1043700"/>
          </a:xfrm>
          <a:prstGeom prst="rect">
            <a:avLst/>
          </a:prstGeom>
          <a:solidFill>
            <a:srgbClr val="FF94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lang="en" sz="3200">
                <a:solidFill>
                  <a:srgbClr val="004987"/>
                </a:solidFill>
                <a:latin typeface="Averia Serif Libre"/>
                <a:ea typeface="Averia Serif Libre"/>
                <a:cs typeface="Averia Serif Libre"/>
                <a:sym typeface="Averia Serif Libre"/>
              </a:rPr>
              <a:t>Best Model + Insight</a:t>
            </a:r>
            <a:endParaRPr b="1" i="0" sz="3200" u="none" cap="none" strike="noStrike">
              <a:solidFill>
                <a:srgbClr val="004987"/>
              </a:solidFill>
              <a:latin typeface="Averia Serif Libre"/>
              <a:ea typeface="Averia Serif Libre"/>
              <a:cs typeface="Averia Serif Libre"/>
              <a:sym typeface="Averia Serif Libre"/>
            </a:endParaRPr>
          </a:p>
        </p:txBody>
      </p:sp>
      <p:pic>
        <p:nvPicPr>
          <p:cNvPr id="219" name="Google Shape;219;p31"/>
          <p:cNvPicPr preferRelativeResize="0"/>
          <p:nvPr/>
        </p:nvPicPr>
        <p:blipFill rotWithShape="1">
          <a:blip r:embed="rId3">
            <a:alphaModFix/>
          </a:blip>
          <a:srcRect b="179" l="0" r="0" t="179"/>
          <a:stretch/>
        </p:blipFill>
        <p:spPr>
          <a:xfrm>
            <a:off x="7548375" y="182875"/>
            <a:ext cx="1138428" cy="274320"/>
          </a:xfrm>
          <a:prstGeom prst="rect">
            <a:avLst/>
          </a:prstGeom>
          <a:noFill/>
          <a:ln>
            <a:noFill/>
          </a:ln>
        </p:spPr>
      </p:pic>
      <p:sp>
        <p:nvSpPr>
          <p:cNvPr id="220" name="Google Shape;220;p31"/>
          <p:cNvSpPr txBox="1"/>
          <p:nvPr/>
        </p:nvSpPr>
        <p:spPr>
          <a:xfrm>
            <a:off x="471975" y="1435900"/>
            <a:ext cx="7295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0B5394"/>
                </a:solidFill>
                <a:latin typeface="Averia Serif Libre"/>
                <a:ea typeface="Averia Serif Libre"/>
                <a:cs typeface="Averia Serif Libre"/>
                <a:sym typeface="Averia Serif Libre"/>
              </a:rPr>
              <a:t>Y hat = 1,972 + 1,05 X1 + 0,99 X2 + 0,75 X3 + 1,55 X4 + 0,23 X5 + 0,79 X6</a:t>
            </a:r>
            <a:endParaRPr b="1" sz="1600">
              <a:solidFill>
                <a:srgbClr val="0B5394"/>
              </a:solidFill>
              <a:latin typeface="Averia Serif Libre"/>
              <a:ea typeface="Averia Serif Libre"/>
              <a:cs typeface="Averia Serif Libre"/>
              <a:sym typeface="Averia Serif Libre"/>
            </a:endParaRPr>
          </a:p>
        </p:txBody>
      </p:sp>
      <p:pic>
        <p:nvPicPr>
          <p:cNvPr id="221" name="Google Shape;221;p31"/>
          <p:cNvPicPr preferRelativeResize="0"/>
          <p:nvPr/>
        </p:nvPicPr>
        <p:blipFill>
          <a:blip r:embed="rId4">
            <a:alphaModFix/>
          </a:blip>
          <a:stretch>
            <a:fillRect/>
          </a:stretch>
        </p:blipFill>
        <p:spPr>
          <a:xfrm>
            <a:off x="640100" y="2612825"/>
            <a:ext cx="3657600" cy="2028825"/>
          </a:xfrm>
          <a:prstGeom prst="rect">
            <a:avLst/>
          </a:prstGeom>
          <a:noFill/>
          <a:ln>
            <a:noFill/>
          </a:ln>
        </p:spPr>
      </p:pic>
      <p:sp>
        <p:nvSpPr>
          <p:cNvPr id="222" name="Google Shape;222;p31"/>
          <p:cNvSpPr txBox="1"/>
          <p:nvPr/>
        </p:nvSpPr>
        <p:spPr>
          <a:xfrm>
            <a:off x="640100" y="1952175"/>
            <a:ext cx="3885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Averia Serif Libre"/>
                <a:ea typeface="Averia Serif Libre"/>
                <a:cs typeface="Averia Serif Libre"/>
                <a:sym typeface="Averia Serif Libre"/>
              </a:rPr>
              <a:t>Negara yang masih memiliki indeks kebahagiaan di bawah rata-rata</a:t>
            </a:r>
            <a:endParaRPr>
              <a:latin typeface="Averia Serif Libre"/>
              <a:ea typeface="Averia Serif Libre"/>
              <a:cs typeface="Averia Serif Libre"/>
              <a:sym typeface="Averia Serif Libre"/>
            </a:endParaRPr>
          </a:p>
        </p:txBody>
      </p:sp>
      <p:sp>
        <p:nvSpPr>
          <p:cNvPr id="223" name="Google Shape;223;p31"/>
          <p:cNvSpPr txBox="1"/>
          <p:nvPr/>
        </p:nvSpPr>
        <p:spPr>
          <a:xfrm>
            <a:off x="4754000" y="2620850"/>
            <a:ext cx="38853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947B"/>
                </a:solidFill>
                <a:latin typeface="Averia Serif Libre"/>
                <a:ea typeface="Averia Serif Libre"/>
                <a:cs typeface="Averia Serif Libre"/>
                <a:sym typeface="Averia Serif Libre"/>
              </a:rPr>
              <a:t>Dengan ini pemerintah dapat memberikan perhatian khusus untuk negara-negara yang masih memiliki indeks kebahagiaan di bawah rata-rata dan mengambil kebijakan yang sesuai dengan mempertimbangkan faktor-faktor pada model.</a:t>
            </a:r>
            <a:endParaRPr>
              <a:solidFill>
                <a:srgbClr val="FF947B"/>
              </a:solidFill>
              <a:latin typeface="Averia Serif Libre"/>
              <a:ea typeface="Averia Serif Libre"/>
              <a:cs typeface="Averia Serif Libre"/>
              <a:sym typeface="Averia Serif Libre"/>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7" name="Shape 227"/>
        <p:cNvGrpSpPr/>
        <p:nvPr/>
      </p:nvGrpSpPr>
      <p:grpSpPr>
        <a:xfrm>
          <a:off x="0" y="0"/>
          <a:ext cx="0" cy="0"/>
          <a:chOff x="0" y="0"/>
          <a:chExt cx="0" cy="0"/>
        </a:xfrm>
      </p:grpSpPr>
      <p:sp>
        <p:nvSpPr>
          <p:cNvPr id="228" name="Google Shape;228;p32"/>
          <p:cNvSpPr/>
          <p:nvPr/>
        </p:nvSpPr>
        <p:spPr>
          <a:xfrm>
            <a:off x="8223125" y="538775"/>
            <a:ext cx="1601700" cy="1601700"/>
          </a:xfrm>
          <a:prstGeom prst="ellipse">
            <a:avLst/>
          </a:prstGeom>
          <a:noFill/>
          <a:ln cap="flat" cmpd="sng" w="9525">
            <a:solidFill>
              <a:srgbClr val="A4C2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2"/>
          <p:cNvSpPr/>
          <p:nvPr/>
        </p:nvSpPr>
        <p:spPr>
          <a:xfrm>
            <a:off x="7980678" y="1211553"/>
            <a:ext cx="586800" cy="586800"/>
          </a:xfrm>
          <a:prstGeom prst="ellipse">
            <a:avLst/>
          </a:prstGeom>
          <a:solidFill>
            <a:srgbClr val="CFE2F3">
              <a:alpha val="49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2"/>
          <p:cNvSpPr/>
          <p:nvPr/>
        </p:nvSpPr>
        <p:spPr>
          <a:xfrm>
            <a:off x="0" y="2788800"/>
            <a:ext cx="9144000" cy="2354400"/>
          </a:xfrm>
          <a:prstGeom prst="rect">
            <a:avLst/>
          </a:prstGeom>
          <a:solidFill>
            <a:srgbClr val="D0E0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2"/>
          <p:cNvSpPr txBox="1"/>
          <p:nvPr/>
        </p:nvSpPr>
        <p:spPr>
          <a:xfrm>
            <a:off x="618275" y="1496700"/>
            <a:ext cx="8169000" cy="8316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t/>
            </a:r>
            <a:endParaRPr sz="2800">
              <a:solidFill>
                <a:srgbClr val="004B85"/>
              </a:solidFill>
              <a:latin typeface="Averia Serif Libre"/>
              <a:ea typeface="Averia Serif Libre"/>
              <a:cs typeface="Averia Serif Libre"/>
              <a:sym typeface="Averia Serif Libre"/>
            </a:endParaRPr>
          </a:p>
        </p:txBody>
      </p:sp>
      <p:pic>
        <p:nvPicPr>
          <p:cNvPr id="232" name="Google Shape;232;p32"/>
          <p:cNvPicPr preferRelativeResize="0"/>
          <p:nvPr/>
        </p:nvPicPr>
        <p:blipFill rotWithShape="1">
          <a:blip r:embed="rId3">
            <a:alphaModFix/>
          </a:blip>
          <a:srcRect b="-10" l="0" r="0" t="10"/>
          <a:stretch/>
        </p:blipFill>
        <p:spPr>
          <a:xfrm>
            <a:off x="3354524" y="3870250"/>
            <a:ext cx="2696525" cy="191500"/>
          </a:xfrm>
          <a:prstGeom prst="rect">
            <a:avLst/>
          </a:prstGeom>
          <a:noFill/>
          <a:ln>
            <a:noFill/>
          </a:ln>
        </p:spPr>
      </p:pic>
      <p:sp>
        <p:nvSpPr>
          <p:cNvPr id="233" name="Google Shape;233;p32"/>
          <p:cNvSpPr/>
          <p:nvPr/>
        </p:nvSpPr>
        <p:spPr>
          <a:xfrm>
            <a:off x="2400725" y="2462225"/>
            <a:ext cx="4604100" cy="831600"/>
          </a:xfrm>
          <a:prstGeom prst="roundRect">
            <a:avLst>
              <a:gd fmla="val 50000" name="adj"/>
            </a:avLst>
          </a:prstGeom>
          <a:solidFill>
            <a:schemeClr val="lt1"/>
          </a:solidFill>
          <a:ln>
            <a:noFill/>
          </a:ln>
          <a:effectLst>
            <a:outerShdw blurRad="428625" rotWithShape="0" algn="bl" dir="5400000" dist="66675">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2"/>
          <p:cNvSpPr txBox="1"/>
          <p:nvPr/>
        </p:nvSpPr>
        <p:spPr>
          <a:xfrm>
            <a:off x="2917625" y="2462225"/>
            <a:ext cx="3570300" cy="831600"/>
          </a:xfrm>
          <a:prstGeom prst="rect">
            <a:avLst/>
          </a:prstGeom>
          <a:solidFill>
            <a:schemeClr val="lt1"/>
          </a:solid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 sz="3800">
                <a:solidFill>
                  <a:srgbClr val="004B85"/>
                </a:solidFill>
                <a:latin typeface="Averia Serif Libre"/>
                <a:ea typeface="Averia Serif Libre"/>
                <a:cs typeface="Averia Serif Libre"/>
                <a:sym typeface="Averia Serif Libre"/>
              </a:rPr>
              <a:t>Q &amp; A</a:t>
            </a:r>
            <a:endParaRPr sz="3800">
              <a:solidFill>
                <a:srgbClr val="004B85"/>
              </a:solidFill>
              <a:latin typeface="Averia Serif Libre"/>
              <a:ea typeface="Averia Serif Libre"/>
              <a:cs typeface="Averia Serif Libre"/>
              <a:sym typeface="Averia Serif Libre"/>
            </a:endParaRPr>
          </a:p>
        </p:txBody>
      </p:sp>
      <p:pic>
        <p:nvPicPr>
          <p:cNvPr id="235" name="Google Shape;235;p32"/>
          <p:cNvPicPr preferRelativeResize="0"/>
          <p:nvPr/>
        </p:nvPicPr>
        <p:blipFill rotWithShape="1">
          <a:blip r:embed="rId4">
            <a:alphaModFix/>
          </a:blip>
          <a:srcRect b="179" l="0" r="0" t="179"/>
          <a:stretch/>
        </p:blipFill>
        <p:spPr>
          <a:xfrm>
            <a:off x="7548375" y="182875"/>
            <a:ext cx="1138428" cy="274320"/>
          </a:xfrm>
          <a:prstGeom prst="rect">
            <a:avLst/>
          </a:prstGeom>
          <a:noFill/>
          <a:ln>
            <a:noFill/>
          </a:ln>
        </p:spPr>
      </p:pic>
      <p:sp>
        <p:nvSpPr>
          <p:cNvPr id="236" name="Google Shape;236;p32"/>
          <p:cNvSpPr/>
          <p:nvPr/>
        </p:nvSpPr>
        <p:spPr>
          <a:xfrm>
            <a:off x="-776575" y="3293817"/>
            <a:ext cx="1697400" cy="16974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2"/>
          <p:cNvSpPr/>
          <p:nvPr/>
        </p:nvSpPr>
        <p:spPr>
          <a:xfrm>
            <a:off x="618275" y="4478618"/>
            <a:ext cx="274200" cy="274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4987"/>
        </a:solidFill>
      </p:bgPr>
    </p:bg>
    <p:spTree>
      <p:nvGrpSpPr>
        <p:cNvPr id="241" name="Shape 241"/>
        <p:cNvGrpSpPr/>
        <p:nvPr/>
      </p:nvGrpSpPr>
      <p:grpSpPr>
        <a:xfrm>
          <a:off x="0" y="0"/>
          <a:ext cx="0" cy="0"/>
          <a:chOff x="0" y="0"/>
          <a:chExt cx="0" cy="0"/>
        </a:xfrm>
      </p:grpSpPr>
      <p:pic>
        <p:nvPicPr>
          <p:cNvPr id="242" name="Google Shape;242;p33"/>
          <p:cNvPicPr preferRelativeResize="0"/>
          <p:nvPr/>
        </p:nvPicPr>
        <p:blipFill rotWithShape="1">
          <a:blip r:embed="rId3">
            <a:alphaModFix/>
          </a:blip>
          <a:srcRect b="0" l="9313" r="11958" t="0"/>
          <a:stretch/>
        </p:blipFill>
        <p:spPr>
          <a:xfrm flipH="1">
            <a:off x="3348448" y="3496477"/>
            <a:ext cx="2428601" cy="219075"/>
          </a:xfrm>
          <a:prstGeom prst="rect">
            <a:avLst/>
          </a:prstGeom>
          <a:noFill/>
          <a:ln>
            <a:noFill/>
          </a:ln>
        </p:spPr>
      </p:pic>
      <p:sp>
        <p:nvSpPr>
          <p:cNvPr id="243" name="Google Shape;243;p33"/>
          <p:cNvSpPr txBox="1"/>
          <p:nvPr/>
        </p:nvSpPr>
        <p:spPr>
          <a:xfrm>
            <a:off x="1636350" y="1618025"/>
            <a:ext cx="5871300" cy="15006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1000"/>
              </a:spcBef>
              <a:spcAft>
                <a:spcPts val="0"/>
              </a:spcAft>
              <a:buNone/>
            </a:pPr>
            <a:r>
              <a:rPr lang="en" sz="4100">
                <a:solidFill>
                  <a:srgbClr val="FFFFFF"/>
                </a:solidFill>
                <a:latin typeface="Averia Serif Libre"/>
                <a:ea typeface="Averia Serif Libre"/>
                <a:cs typeface="Averia Serif Libre"/>
                <a:sym typeface="Averia Serif Libre"/>
              </a:rPr>
              <a:t>Thank You!</a:t>
            </a:r>
            <a:endParaRPr sz="4100">
              <a:solidFill>
                <a:srgbClr val="FFFFFF"/>
              </a:solidFill>
              <a:latin typeface="Averia Serif Libre"/>
              <a:ea typeface="Averia Serif Libre"/>
              <a:cs typeface="Averia Serif Libre"/>
              <a:sym typeface="Averia Serif Libre"/>
            </a:endParaRPr>
          </a:p>
        </p:txBody>
      </p:sp>
      <p:pic>
        <p:nvPicPr>
          <p:cNvPr id="244" name="Google Shape;244;p33"/>
          <p:cNvPicPr preferRelativeResize="0"/>
          <p:nvPr/>
        </p:nvPicPr>
        <p:blipFill>
          <a:blip r:embed="rId4">
            <a:alphaModFix/>
          </a:blip>
          <a:stretch>
            <a:fillRect/>
          </a:stretch>
        </p:blipFill>
        <p:spPr>
          <a:xfrm>
            <a:off x="7548375" y="182875"/>
            <a:ext cx="1138428" cy="27432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